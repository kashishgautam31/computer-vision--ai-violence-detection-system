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1"/>
  </p:sldMasterIdLst>
  <p:sldIdLst>
    <p:sldId id="256" r:id="rId2"/>
    <p:sldId id="270" r:id="rId3"/>
    <p:sldId id="268" r:id="rId4"/>
    <p:sldId id="258" r:id="rId5"/>
    <p:sldId id="259" r:id="rId6"/>
    <p:sldId id="260" r:id="rId7"/>
    <p:sldId id="261" r:id="rId8"/>
    <p:sldId id="262" r:id="rId9"/>
    <p:sldId id="263" r:id="rId10"/>
    <p:sldId id="264" r:id="rId11"/>
    <p:sldId id="267" r:id="rId12"/>
    <p:sldId id="269" r:id="rId13"/>
    <p:sldId id="266"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A5356"/>
    <a:srgbClr val="9CA38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90" autoAdjust="0"/>
    <p:restoredTop sz="94660"/>
  </p:normalViewPr>
  <p:slideViewPr>
    <p:cSldViewPr snapToGrid="0">
      <p:cViewPr varScale="1">
        <p:scale>
          <a:sx n="97" d="100"/>
          <a:sy n="97" d="100"/>
        </p:scale>
        <p:origin x="326" y="8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1F6A618-09FA-4FA9-896D-79F33E5C14FB}" type="doc">
      <dgm:prSet loTypeId="urn:microsoft.com/office/officeart/2005/8/layout/vList5" loCatId="list" qsTypeId="urn:microsoft.com/office/officeart/2005/8/quickstyle/simple1" qsCatId="simple" csTypeId="urn:microsoft.com/office/officeart/2005/8/colors/colorful1" csCatId="colorful"/>
      <dgm:spPr/>
      <dgm:t>
        <a:bodyPr/>
        <a:lstStyle/>
        <a:p>
          <a:endParaRPr lang="en-US"/>
        </a:p>
      </dgm:t>
    </dgm:pt>
    <dgm:pt modelId="{0D63C321-B6BF-4F44-8460-059C4DB479A8}" type="pres">
      <dgm:prSet presAssocID="{21F6A618-09FA-4FA9-896D-79F33E5C14FB}" presName="Name0" presStyleCnt="0">
        <dgm:presLayoutVars>
          <dgm:dir/>
          <dgm:animLvl val="lvl"/>
          <dgm:resizeHandles val="exact"/>
        </dgm:presLayoutVars>
      </dgm:prSet>
      <dgm:spPr/>
      <dgm:t>
        <a:bodyPr/>
        <a:lstStyle/>
        <a:p>
          <a:endParaRPr lang="en-US"/>
        </a:p>
      </dgm:t>
    </dgm:pt>
  </dgm:ptLst>
  <dgm:cxnLst>
    <dgm:cxn modelId="{1BD35A9B-9895-054D-B983-D76CB588D357}" type="presOf" srcId="{21F6A618-09FA-4FA9-896D-79F33E5C14FB}" destId="{0D63C321-B6BF-4F44-8460-059C4DB479A8}" srcOrd="0"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4990C0E-385A-46E1-A872-03852ADA83AA}" type="doc">
      <dgm:prSet loTypeId="urn:microsoft.com/office/officeart/2008/layout/PictureGrid" loCatId="picture" qsTypeId="urn:microsoft.com/office/officeart/2005/8/quickstyle/3d3" qsCatId="3D" csTypeId="urn:microsoft.com/office/officeart/2005/8/colors/accent1_2" csCatId="accent1" phldr="1"/>
      <dgm:spPr/>
      <dgm:t>
        <a:bodyPr/>
        <a:lstStyle/>
        <a:p>
          <a:endParaRPr lang="en-US"/>
        </a:p>
      </dgm:t>
    </dgm:pt>
    <dgm:pt modelId="{AC234922-F635-41D1-BDF3-112ABF6472B3}" type="pres">
      <dgm:prSet presAssocID="{D4990C0E-385A-46E1-A872-03852ADA83AA}" presName="Name0" presStyleCnt="0">
        <dgm:presLayoutVars>
          <dgm:dir/>
        </dgm:presLayoutVars>
      </dgm:prSet>
      <dgm:spPr/>
      <dgm:t>
        <a:bodyPr/>
        <a:lstStyle/>
        <a:p>
          <a:endParaRPr lang="en-US"/>
        </a:p>
      </dgm:t>
    </dgm:pt>
  </dgm:ptLst>
  <dgm:cxnLst>
    <dgm:cxn modelId="{114ABD06-3BD3-4C7F-AFD4-A21176AFADBA}" type="presOf" srcId="{D4990C0E-385A-46E1-A872-03852ADA83AA}" destId="{AC234922-F635-41D1-BDF3-112ABF6472B3}" srcOrd="0" destOrd="0" presId="urn:microsoft.com/office/officeart/2008/layout/PictureGrid"/>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PictureGrid">
  <dgm:title val=""/>
  <dgm:desc val=""/>
  <dgm:catLst>
    <dgm:cat type="picture" pri="11000"/>
    <dgm:cat type="pictureconvert" pri="11000"/>
  </dgm:catLst>
  <dgm:samp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dir/>
    </dgm:varLst>
    <dgm:choose name="Name1">
      <dgm:if name="Name2" axis="ch" ptType="node" func="cnt" op="lte" val="4">
        <dgm:choose name="Name3">
          <dgm:if name="Name4" func="var" arg="dir" op="equ" val="norm">
            <dgm:alg type="snake">
              <dgm:param type="off" val="ctr"/>
              <dgm:param type="bkpt" val="fixed"/>
              <dgm:param type="bkPtFixedVal" val="2"/>
            </dgm:alg>
          </dgm:if>
          <dgm:else name="Name5">
            <dgm:alg type="snake">
              <dgm:param type="off" val="ctr"/>
              <dgm:param type="grDir" val="tR"/>
              <dgm:param type="bkpt" val="fixed"/>
              <dgm:param type="bkPtFixedVal" val="2"/>
            </dgm:alg>
          </dgm:else>
        </dgm:choose>
      </dgm:if>
      <dgm:else name="Name6">
        <dgm:choose name="Name7">
          <dgm:if name="Name8" axis="ch" ptType="node" func="cnt" op="lte" val="9">
            <dgm:choose name="Name9">
              <dgm:if name="Name10" func="var" arg="dir" op="equ" val="norm">
                <dgm:alg type="snake">
                  <dgm:param type="off" val="ctr"/>
                  <dgm:param type="bkpt" val="fixed"/>
                  <dgm:param type="bkPtFixedVal" val="3"/>
                </dgm:alg>
              </dgm:if>
              <dgm:else name="Name11">
                <dgm:alg type="snake">
                  <dgm:param type="off" val="ctr"/>
                  <dgm:param type="grDir" val="tR"/>
                  <dgm:param type="bkpt" val="fixed"/>
                  <dgm:param type="bkPtFixedVal" val="3"/>
                </dgm:alg>
              </dgm:else>
            </dgm:choose>
          </dgm:if>
          <dgm:else name="Name12">
            <dgm:choose name="Name13">
              <dgm:if name="Name14" axis="ch" ptType="node" func="cnt" op="lte" val="16">
                <dgm:choose name="Name15">
                  <dgm:if name="Name16" func="var" arg="dir" op="equ" val="norm">
                    <dgm:alg type="snake">
                      <dgm:param type="off" val="ctr"/>
                      <dgm:param type="bkpt" val="fixed"/>
                      <dgm:param type="bkPtFixedVal" val="4"/>
                    </dgm:alg>
                  </dgm:if>
                  <dgm:else name="Name17">
                    <dgm:alg type="snake">
                      <dgm:param type="off" val="ctr"/>
                      <dgm:param type="grDir" val="tR"/>
                      <dgm:param type="bkpt" val="fixed"/>
                      <dgm:param type="bkPtFixedVal" val="4"/>
                    </dgm:alg>
                  </dgm:else>
                </dgm:choose>
              </dgm:if>
              <dgm:else name="Name18">
                <dgm:choose name="Name19">
                  <dgm:if name="Name20" axis="ch" ptType="node" func="cnt" op="lte" val="25">
                    <dgm:choose name="Name21">
                      <dgm:if name="Name22" func="var" arg="dir" op="equ" val="norm">
                        <dgm:alg type="snake">
                          <dgm:param type="off" val="ctr"/>
                          <dgm:param type="bkpt" val="fixed"/>
                          <dgm:param type="bkPtFixedVal" val="5"/>
                        </dgm:alg>
                      </dgm:if>
                      <dgm:else name="Name23">
                        <dgm:alg type="snake">
                          <dgm:param type="off" val="ctr"/>
                          <dgm:param type="grDir" val="tR"/>
                          <dgm:param type="bkpt" val="fixed"/>
                          <dgm:param type="bkPtFixedVal" val="5"/>
                        </dgm:alg>
                      </dgm:else>
                    </dgm:choose>
                  </dgm:if>
                  <dgm:else name="Name24">
                    <dgm:choose name="Name25">
                      <dgm:if name="Name26" func="var" arg="dir" op="equ" val="norm">
                        <dgm:alg type="snake">
                          <dgm:param type="off" val="ctr"/>
                        </dgm:alg>
                      </dgm:if>
                      <dgm:else name="Name27">
                        <dgm:alg type="snake">
                          <dgm:param type="off" val="ctr"/>
                          <dgm:param type="grDir" val="tR"/>
                        </dgm:alg>
                      </dgm:else>
                    </dgm:choose>
                  </dgm:else>
                </dgm:choose>
              </dgm:else>
            </dgm:choose>
          </dgm:else>
        </dgm:choose>
      </dgm:else>
    </dgm:choose>
    <dgm:shape xmlns:r="http://schemas.openxmlformats.org/officeDocument/2006/relationships" r:blip="">
      <dgm:adjLst/>
    </dgm:shape>
    <dgm:constrLst>
      <dgm:constr type="primFontSz" for="des" ptType="node" op="equ" val="65"/>
      <dgm:constr type="w" for="ch" forName="composite" refType="h" fact="0.8"/>
      <dgm:constr type="h" for="ch" forName="composite" refType="h"/>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alg type="composite">
          <dgm:param type="ar" val="0.7568"/>
        </dgm:alg>
        <dgm:shape xmlns:r="http://schemas.openxmlformats.org/officeDocument/2006/relationships" r:blip="">
          <dgm:adjLst/>
        </dgm:shape>
        <dgm:constrLst>
          <dgm:constr type="l" for="ch" forName="rect1" refType="w" fact="0"/>
          <dgm:constr type="t" for="ch" forName="rect1" refType="h" fact="0.15"/>
          <dgm:constr type="w" for="ch" forName="rect1" refType="w"/>
          <dgm:constr type="h" for="ch" forName="rect1" refType="w"/>
          <dgm:constr type="l" for="ch" forName="rect2" refType="w" fact="0"/>
          <dgm:constr type="t" for="ch" forName="rect2" refType="h" fact="0"/>
          <dgm:constr type="w" for="ch" forName="rect2" refType="w"/>
          <dgm:constr type="h" for="ch" forName="rect2" refType="w" fact="0.15"/>
        </dgm:constrLst>
        <dgm:layoutNode name="rect2" styleLbl="revTx">
          <dgm:varLst>
            <dgm:bulletEnabled val="1"/>
          </dgm:varLst>
          <dgm:alg type="tx">
            <dgm:param type="stBulletLvl" val="3"/>
            <dgm:param type="parTxLTRAlign" val="l"/>
            <dgm:param type="parTxRTLAlign" val="r"/>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3"/>
            <dgm:constr type="tMarg" refType="primFontSz" fact="0.3"/>
            <dgm:constr type="bMarg" refType="primFontSz" fact="0"/>
            <dgm:constr type="secFontSz" refType="primFontSz" fact="0.8"/>
          </dgm:constrLst>
          <dgm:ruleLst>
            <dgm:rule type="primFontSz" val="5" fact="NaN" max="NaN"/>
          </dgm:ruleLst>
        </dgm:layoutNode>
        <dgm:layoutNode name="rect1" styleLbl="alignImgPlace1">
          <dgm:alg type="sp"/>
          <dgm:shape xmlns:r="http://schemas.openxmlformats.org/officeDocument/2006/relationships" type="rect" r:blip="" blipPhldr="1">
            <dgm:adjLst/>
          </dgm:shape>
          <dgm:presOf/>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7" name="Date Placeholder 6"/>
          <p:cNvSpPr>
            <a:spLocks noGrp="1"/>
          </p:cNvSpPr>
          <p:nvPr>
            <p:ph type="dt" sz="half" idx="10"/>
          </p:nvPr>
        </p:nvSpPr>
        <p:spPr/>
        <p:txBody>
          <a:bodyPr/>
          <a:lstStyle/>
          <a:p>
            <a:fld id="{1160EA64-D806-43AC-9DF2-F8C432F32B4C}" type="datetimeFigureOut">
              <a:rPr lang="en-US" dirty="0"/>
              <a:t>5/20/2026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a:p>
        </p:txBody>
      </p:sp>
    </p:spTree>
    <p:extLst>
      <p:ext uri="{BB962C8B-B14F-4D97-AF65-F5344CB8AC3E}">
        <p14:creationId xmlns:p14="http://schemas.microsoft.com/office/powerpoint/2010/main" val="2235065410"/>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070A7B3-6521-4DCA-87E5-044747A908C1}" type="datetimeFigureOut">
              <a:rPr lang="en-US" dirty="0"/>
              <a:t>5/20/2026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a:p>
        </p:txBody>
      </p:sp>
    </p:spTree>
    <p:extLst>
      <p:ext uri="{BB962C8B-B14F-4D97-AF65-F5344CB8AC3E}">
        <p14:creationId xmlns:p14="http://schemas.microsoft.com/office/powerpoint/2010/main" val="13122521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1160EA64-D806-43AC-9DF2-F8C432F32B4C}" type="datetimeFigureOut">
              <a:rPr lang="en-US" dirty="0"/>
              <a:t>5/20/2026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a:p>
        </p:txBody>
      </p:sp>
    </p:spTree>
    <p:extLst>
      <p:ext uri="{BB962C8B-B14F-4D97-AF65-F5344CB8AC3E}">
        <p14:creationId xmlns:p14="http://schemas.microsoft.com/office/powerpoint/2010/main" val="2333942548"/>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p:cNvSpPr>
            <a:spLocks noGrp="1"/>
          </p:cNvSpPr>
          <p:nvPr>
            <p:ph type="dt" sz="half" idx="10"/>
          </p:nvPr>
        </p:nvSpPr>
        <p:spPr/>
        <p:txBody>
          <a:bodyPr/>
          <a:lstStyle/>
          <a:p>
            <a:fld id="{AB134690-1557-4C89-A502-4959FE7FAD70}" type="datetimeFigureOut">
              <a:rPr lang="en-US" dirty="0"/>
              <a:t>5/20/2026</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a:p>
        </p:txBody>
      </p:sp>
    </p:spTree>
    <p:extLst>
      <p:ext uri="{BB962C8B-B14F-4D97-AF65-F5344CB8AC3E}">
        <p14:creationId xmlns:p14="http://schemas.microsoft.com/office/powerpoint/2010/main" val="30201168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4F7D4976-E339-4826-83B7-FBD03F55ECF8}" type="datetimeFigureOut">
              <a:rPr lang="en-US" dirty="0"/>
              <a:t>5/20/2026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A7A6979-0714-4377-B894-6BE4C2D6E202}" type="slidenum">
              <a:rPr lang="en-US" dirty="0"/>
              <a:t>‹#›</a:t>
            </a:fld>
            <a:endParaRPr lang="en-US"/>
          </a:p>
        </p:txBody>
      </p:sp>
      <p:sp>
        <p:nvSpPr>
          <p:cNvPr id="10" name="Title 9"/>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8343607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1037C31-9E7A-4F99-8774-A0E530DE1A42}" type="datetimeFigureOut">
              <a:rPr lang="en-US" dirty="0"/>
              <a:t>5/20/2026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A7A6979-0714-4377-B894-6BE4C2D6E202}" type="slidenum">
              <a:rPr lang="en-US" dirty="0"/>
              <a:t>‹#›</a:t>
            </a:fld>
            <a:endParaRPr lang="en-US"/>
          </a:p>
        </p:txBody>
      </p:sp>
    </p:spTree>
    <p:extLst>
      <p:ext uri="{BB962C8B-B14F-4D97-AF65-F5344CB8AC3E}">
        <p14:creationId xmlns:p14="http://schemas.microsoft.com/office/powerpoint/2010/main" val="33933149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78504F-A551-4DE0-9316-4DCD1D8CC752}" type="datetimeFigureOut">
              <a:rPr lang="en-US" dirty="0"/>
              <a:t>5/20/2026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A7A6979-0714-4377-B894-6BE4C2D6E202}" type="slidenum">
              <a:rPr lang="en-US" dirty="0"/>
              <a:t>‹#›</a:t>
            </a:fld>
            <a:endParaRPr lang="en-US"/>
          </a:p>
        </p:txBody>
      </p:sp>
    </p:spTree>
    <p:extLst>
      <p:ext uri="{BB962C8B-B14F-4D97-AF65-F5344CB8AC3E}">
        <p14:creationId xmlns:p14="http://schemas.microsoft.com/office/powerpoint/2010/main" val="35527162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D1BE4249-C0D0-4B06-8692-E8BB871AF643}" type="datetimeFigureOut">
              <a:rPr lang="en-US" dirty="0"/>
              <a:t>5/20/2026</a:t>
            </a:fld>
            <a:endParaRPr lang="en-US"/>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1" name="Slide Number Placeholder 10"/>
          <p:cNvSpPr>
            <a:spLocks noGrp="1"/>
          </p:cNvSpPr>
          <p:nvPr>
            <p:ph type="sldNum" sz="quarter" idx="12"/>
          </p:nvPr>
        </p:nvSpPr>
        <p:spPr/>
        <p:txBody>
          <a:bodyPr/>
          <a:lstStyle/>
          <a:p>
            <a:fld id="{8A7A6979-0714-4377-B894-6BE4C2D6E202}" type="slidenum">
              <a:rPr lang="en-US" dirty="0"/>
              <a:t>‹#›</a:t>
            </a:fld>
            <a:endParaRPr lang="en-US"/>
          </a:p>
        </p:txBody>
      </p:sp>
    </p:spTree>
    <p:extLst>
      <p:ext uri="{BB962C8B-B14F-4D97-AF65-F5344CB8AC3E}">
        <p14:creationId xmlns:p14="http://schemas.microsoft.com/office/powerpoint/2010/main" val="19065171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042B0DB6-F5C7-45FB-8CF3-31B45F9C2DAC}" type="datetimeFigureOut">
              <a:rPr lang="en-US" dirty="0"/>
              <a:t>5/20/2026</a:t>
            </a:fld>
            <a:endParaRPr lang="en-US"/>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a:p>
        </p:txBody>
      </p:sp>
    </p:spTree>
    <p:extLst>
      <p:ext uri="{BB962C8B-B14F-4D97-AF65-F5344CB8AC3E}">
        <p14:creationId xmlns:p14="http://schemas.microsoft.com/office/powerpoint/2010/main" val="24225222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9F9C37B-1D36-470B-8223-D6C91242EC14}" type="datetimeFigureOut">
              <a:rPr lang="en-US" dirty="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a:p>
        </p:txBody>
      </p:sp>
    </p:spTree>
    <p:extLst>
      <p:ext uri="{BB962C8B-B14F-4D97-AF65-F5344CB8AC3E}">
        <p14:creationId xmlns:p14="http://schemas.microsoft.com/office/powerpoint/2010/main" val="14486481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7C6F52A-A82B-47A2-A83A-8C4C91F2D59F}" type="datetimeFigureOut">
              <a:rPr lang="en-US" dirty="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a:p>
        </p:txBody>
      </p:sp>
    </p:spTree>
    <p:extLst>
      <p:ext uri="{BB962C8B-B14F-4D97-AF65-F5344CB8AC3E}">
        <p14:creationId xmlns:p14="http://schemas.microsoft.com/office/powerpoint/2010/main" val="24170269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1160EA64-D806-43AC-9DF2-F8C432F32B4C}" type="datetimeFigureOut">
              <a:rPr lang="en-US" dirty="0"/>
              <a:t>5/20/2026</a:t>
            </a:fld>
            <a:endParaRPr lang="en-US"/>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8A7A6979-0714-4377-B894-6BE4C2D6E202}" type="slidenum">
              <a:rPr lang="en-US" dirty="0"/>
              <a:pPr/>
              <a:t>‹#›</a:t>
            </a:fld>
            <a:endParaRPr lang="en-US"/>
          </a:p>
        </p:txBody>
      </p:sp>
    </p:spTree>
    <p:extLst>
      <p:ext uri="{BB962C8B-B14F-4D97-AF65-F5344CB8AC3E}">
        <p14:creationId xmlns:p14="http://schemas.microsoft.com/office/powerpoint/2010/main" val="3993068660"/>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Lst>
  <p:hf sldNum="0" hdr="0" ft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diagramLayout" Target="../diagrams/layout2.xml"/><Relationship Id="rId13" Type="http://schemas.openxmlformats.org/officeDocument/2006/relationships/image" Target="../media/image2.jpeg"/><Relationship Id="rId3" Type="http://schemas.openxmlformats.org/officeDocument/2006/relationships/diagramLayout" Target="../diagrams/layout1.xml"/><Relationship Id="rId7" Type="http://schemas.openxmlformats.org/officeDocument/2006/relationships/diagramData" Target="../diagrams/data2.xml"/><Relationship Id="rId12" Type="http://schemas.openxmlformats.org/officeDocument/2006/relationships/image" Target="../media/image1.jpe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5" Type="http://schemas.openxmlformats.org/officeDocument/2006/relationships/image" Target="../media/image4.jpeg"/><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 Id="rId1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Project-6AI%20Resume%20Analyzer%20&#8211;%20Job%20Role%20Prediction%20Dataset"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87D3A4E0-C908-4EA9-ABDF-E82AD6BDEF9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0"/>
            <a:ext cx="6096000" cy="6858000"/>
          </a:xfrm>
          <a:prstGeom prst="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415DF57-098C-4FCB-B7A8-E497E9B6043E}"/>
              </a:ext>
            </a:extLst>
          </p:cNvPr>
          <p:cNvSpPr>
            <a:spLocks noGrp="1"/>
          </p:cNvSpPr>
          <p:nvPr>
            <p:ph type="ctrTitle"/>
          </p:nvPr>
        </p:nvSpPr>
        <p:spPr>
          <a:xfrm>
            <a:off x="1600200" y="2339546"/>
            <a:ext cx="8991600" cy="1716548"/>
          </a:xfrm>
          <a:solidFill>
            <a:schemeClr val="accent1">
              <a:lumMod val="20000"/>
              <a:lumOff val="80000"/>
            </a:schemeClr>
          </a:solidFill>
          <a:ln>
            <a:solidFill>
              <a:schemeClr val="accent1"/>
            </a:solidFill>
          </a:ln>
          <a:scene3d>
            <a:camera prst="orthographicFront"/>
            <a:lightRig rig="threePt" dir="t"/>
          </a:scene3d>
          <a:sp3d>
            <a:bevelT w="152400" h="50800" prst="softRound"/>
          </a:sp3d>
        </p:spPr>
        <p:style>
          <a:lnRef idx="1">
            <a:schemeClr val="accent4"/>
          </a:lnRef>
          <a:fillRef idx="2">
            <a:schemeClr val="accent4"/>
          </a:fillRef>
          <a:effectRef idx="1">
            <a:schemeClr val="accent4"/>
          </a:effectRef>
          <a:fontRef idx="minor">
            <a:schemeClr val="dk1"/>
          </a:fontRef>
        </p:style>
        <p:txBody>
          <a:bodyPr vert="horz" lIns="182880" tIns="182880" rIns="182880" bIns="182880" rtlCol="0">
            <a:noAutofit/>
          </a:bodyPr>
          <a:lstStyle/>
          <a:p>
            <a:r>
              <a:rPr lang="en-IN" sz="3600" b="1" dirty="0" smtClean="0">
                <a:solidFill>
                  <a:schemeClr val="bg1"/>
                </a:solidFill>
                <a:latin typeface="Book Antiqua" panose="02040602050305030304" pitchFamily="18" charset="0"/>
              </a:rPr>
              <a:t>Computer Vision</a:t>
            </a:r>
            <a:r>
              <a:rPr lang="en-IN" sz="3600" b="1" dirty="0" smtClean="0">
                <a:solidFill>
                  <a:srgbClr val="7030A0"/>
                </a:solidFill>
                <a:latin typeface="Book Antiqua" panose="02040602050305030304" pitchFamily="18" charset="0"/>
              </a:rPr>
              <a:t>:-AI </a:t>
            </a:r>
            <a:r>
              <a:rPr lang="en-IN" sz="3600" b="1" dirty="0">
                <a:solidFill>
                  <a:srgbClr val="7030A0"/>
                </a:solidFill>
                <a:latin typeface="Book Antiqua" panose="02040602050305030304" pitchFamily="18" charset="0"/>
              </a:rPr>
              <a:t>VIOLENCE DETECTION SYSTEM</a:t>
            </a:r>
            <a:endParaRPr lang="en-US" sz="3600" kern="1200" cap="all" spc="200" baseline="0" dirty="0">
              <a:solidFill>
                <a:srgbClr val="7030A0"/>
              </a:solidFill>
              <a:latin typeface="Book Antiqua" panose="02040602050305030304" pitchFamily="18" charset="0"/>
            </a:endParaRPr>
          </a:p>
        </p:txBody>
      </p:sp>
    </p:spTree>
    <p:extLst>
      <p:ext uri="{BB962C8B-B14F-4D97-AF65-F5344CB8AC3E}">
        <p14:creationId xmlns:p14="http://schemas.microsoft.com/office/powerpoint/2010/main" val="9805432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4E866FF9-A729-45F0-A163-10E89E871602}"/>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738255" cy="6858000"/>
          </a:xfrm>
          <a:prstGeom prst="rect">
            <a:avLst/>
          </a:prstGeom>
          <a:solidFill>
            <a:srgbClr val="4A53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53C86B1-7C33-4A37-A176-9016ACFEE5C4}"/>
              </a:ext>
            </a:extLst>
          </p:cNvPr>
          <p:cNvSpPr>
            <a:spLocks noGrp="1"/>
          </p:cNvSpPr>
          <p:nvPr>
            <p:ph type="title"/>
          </p:nvPr>
        </p:nvSpPr>
        <p:spPr>
          <a:xfrm>
            <a:off x="640080" y="2681105"/>
            <a:ext cx="3401568" cy="1495794"/>
          </a:xfrm>
          <a:solidFill>
            <a:srgbClr val="FFFFFF"/>
          </a:solidFill>
          <a:ln>
            <a:solidFill>
              <a:srgbClr val="262626"/>
            </a:solidFill>
          </a:ln>
        </p:spPr>
        <p:txBody>
          <a:bodyPr>
            <a:normAutofit fontScale="90000"/>
          </a:bodyPr>
          <a:lstStyle/>
          <a:p>
            <a:r>
              <a:rPr lang="en-IN" sz="3200" dirty="0"/>
              <a:t>Smart Surveillance Squad</a:t>
            </a:r>
          </a:p>
        </p:txBody>
      </p:sp>
      <p:sp useBgFill="1">
        <p:nvSpPr>
          <p:cNvPr id="21" name="Rectangle 20">
            <a:extLst>
              <a:ext uri="{FF2B5EF4-FFF2-40B4-BE49-F238E27FC236}">
                <a16:creationId xmlns:a16="http://schemas.microsoft.com/office/drawing/2014/main" id="{A804366F-2366-4688-98E7-B101C7BC614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53278" y="0"/>
            <a:ext cx="7438722"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E2F6407E-AAD2-A4D5-4610-A42FBD9CB175}"/>
              </a:ext>
            </a:extLst>
          </p:cNvPr>
          <p:cNvGraphicFramePr>
            <a:graphicFrameLocks noGrp="1"/>
          </p:cNvGraphicFramePr>
          <p:nvPr>
            <p:ph idx="1"/>
            <p:extLst>
              <p:ext uri="{D42A27DB-BD31-4B8C-83A1-F6EECF244321}">
                <p14:modId xmlns:p14="http://schemas.microsoft.com/office/powerpoint/2010/main" val="325097247"/>
              </p:ext>
            </p:extLst>
          </p:nvPr>
        </p:nvGraphicFramePr>
        <p:xfrm>
          <a:off x="5397501" y="639763"/>
          <a:ext cx="6282310" cy="25675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3" name="Diagram 2">
            <a:extLst>
              <a:ext uri="{FF2B5EF4-FFF2-40B4-BE49-F238E27FC236}">
                <a16:creationId xmlns:a16="http://schemas.microsoft.com/office/drawing/2014/main" id="{B8CED378-0A86-9823-1D3F-9B4061B1FE95}"/>
              </a:ext>
            </a:extLst>
          </p:cNvPr>
          <p:cNvGraphicFramePr/>
          <p:nvPr>
            <p:extLst>
              <p:ext uri="{D42A27DB-BD31-4B8C-83A1-F6EECF244321}">
                <p14:modId xmlns:p14="http://schemas.microsoft.com/office/powerpoint/2010/main" val="3965438146"/>
              </p:ext>
            </p:extLst>
          </p:nvPr>
        </p:nvGraphicFramePr>
        <p:xfrm>
          <a:off x="7627852" y="420131"/>
          <a:ext cx="4234633" cy="5568777"/>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pSp>
        <p:nvGrpSpPr>
          <p:cNvPr id="4" name="Group 3">
            <a:extLst>
              <a:ext uri="{FF2B5EF4-FFF2-40B4-BE49-F238E27FC236}">
                <a16:creationId xmlns:a16="http://schemas.microsoft.com/office/drawing/2014/main" id="{7BCE0D83-DF72-32F8-B5DD-EE783615D5F8}"/>
              </a:ext>
            </a:extLst>
          </p:cNvPr>
          <p:cNvGrpSpPr/>
          <p:nvPr/>
        </p:nvGrpSpPr>
        <p:grpSpPr>
          <a:xfrm>
            <a:off x="5366224" y="2367448"/>
            <a:ext cx="2261631" cy="1252444"/>
            <a:chOff x="0" y="1315097"/>
            <a:chExt cx="2261631" cy="1252444"/>
          </a:xfrm>
          <a:solidFill>
            <a:srgbClr val="9CA383"/>
          </a:solidFill>
        </p:grpSpPr>
        <p:sp>
          <p:nvSpPr>
            <p:cNvPr id="6" name="Rectangle: Rounded Corners 5">
              <a:extLst>
                <a:ext uri="{FF2B5EF4-FFF2-40B4-BE49-F238E27FC236}">
                  <a16:creationId xmlns:a16="http://schemas.microsoft.com/office/drawing/2014/main" id="{3BD57785-5D15-79E9-3ECF-86C512858270}"/>
                </a:ext>
              </a:extLst>
            </p:cNvPr>
            <p:cNvSpPr/>
            <p:nvPr/>
          </p:nvSpPr>
          <p:spPr>
            <a:xfrm>
              <a:off x="0" y="1315097"/>
              <a:ext cx="2261631" cy="1252444"/>
            </a:xfrm>
            <a:prstGeom prst="roundRect">
              <a:avLst/>
            </a:prstGeom>
            <a:grpFill/>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a:lstStyle/>
            <a:p>
              <a:endParaRPr lang="en-IN"/>
            </a:p>
          </p:txBody>
        </p:sp>
        <p:sp>
          <p:nvSpPr>
            <p:cNvPr id="7" name="Rectangle: Rounded Corners 4">
              <a:extLst>
                <a:ext uri="{FF2B5EF4-FFF2-40B4-BE49-F238E27FC236}">
                  <a16:creationId xmlns:a16="http://schemas.microsoft.com/office/drawing/2014/main" id="{6E193F18-9816-2134-C79C-11FDD5C0D8D5}"/>
                </a:ext>
              </a:extLst>
            </p:cNvPr>
            <p:cNvSpPr txBox="1"/>
            <p:nvPr/>
          </p:nvSpPr>
          <p:spPr>
            <a:xfrm>
              <a:off x="61138" y="1376236"/>
              <a:ext cx="2139353" cy="1130166"/>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140970" tIns="70485" rIns="140970" bIns="70485" numCol="1" spcCol="1270" anchor="ctr" anchorCtr="0">
              <a:noAutofit/>
            </a:bodyPr>
            <a:lstStyle/>
            <a:p>
              <a:pPr marL="0" lvl="0" indent="0" algn="ctr" defTabSz="1644650">
                <a:lnSpc>
                  <a:spcPct val="90000"/>
                </a:lnSpc>
                <a:spcBef>
                  <a:spcPct val="0"/>
                </a:spcBef>
                <a:spcAft>
                  <a:spcPct val="35000"/>
                </a:spcAft>
                <a:buNone/>
              </a:pPr>
              <a:r>
                <a:rPr lang="en-IN" sz="3700" kern="1200" dirty="0"/>
                <a:t>Student Name</a:t>
              </a:r>
              <a:endParaRPr lang="en-US" sz="3700" kern="1200" dirty="0"/>
            </a:p>
          </p:txBody>
        </p:sp>
      </p:grpSp>
      <p:sp>
        <p:nvSpPr>
          <p:cNvPr id="11" name="Rectangle 10"/>
          <p:cNvSpPr/>
          <p:nvPr/>
        </p:nvSpPr>
        <p:spPr>
          <a:xfrm>
            <a:off x="9884819" y="683525"/>
            <a:ext cx="1866661" cy="1692282"/>
          </a:xfrm>
          <a:prstGeom prst="rect">
            <a:avLst/>
          </a:prstGeom>
          <a:blipFill rotWithShape="1">
            <a:blip r:embed="rId12"/>
            <a:srcRect/>
            <a:stretch>
              <a:fillRect t="-17000" b="-17000"/>
            </a:stretch>
          </a:blipFill>
        </p:spPr>
        <p:style>
          <a:lnRef idx="0">
            <a:schemeClr val="accent1">
              <a:hueOff val="0"/>
              <a:satOff val="0"/>
              <a:lumOff val="0"/>
              <a:alphaOff val="0"/>
            </a:schemeClr>
          </a:lnRef>
          <a:fillRef idx="1">
            <a:scrgbClr r="0" g="0" b="0"/>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p>
            <a:endParaRPr lang="en-IN"/>
          </a:p>
        </p:txBody>
      </p:sp>
      <p:sp>
        <p:nvSpPr>
          <p:cNvPr id="12" name="Rectangle 11"/>
          <p:cNvSpPr/>
          <p:nvPr/>
        </p:nvSpPr>
        <p:spPr>
          <a:xfrm>
            <a:off x="7697963" y="675166"/>
            <a:ext cx="1957070" cy="1677670"/>
          </a:xfrm>
          <a:prstGeom prst="rect">
            <a:avLst/>
          </a:prstGeom>
          <a:blipFill rotWithShape="1">
            <a:blip r:embed="rId13"/>
            <a:srcRect/>
            <a:stretch>
              <a:fillRect t="-11000" b="-11000"/>
            </a:stretch>
          </a:blipFill>
        </p:spPr>
        <p:style>
          <a:lnRef idx="0">
            <a:schemeClr val="accent1">
              <a:hueOff val="0"/>
              <a:satOff val="0"/>
              <a:lumOff val="0"/>
              <a:alphaOff val="0"/>
            </a:schemeClr>
          </a:lnRef>
          <a:fillRef idx="1">
            <a:scrgbClr r="0" g="0" b="0"/>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p>
            <a:endParaRPr lang="en-IN"/>
          </a:p>
        </p:txBody>
      </p:sp>
      <p:sp>
        <p:nvSpPr>
          <p:cNvPr id="13" name="Rectangle 12"/>
          <p:cNvSpPr/>
          <p:nvPr/>
        </p:nvSpPr>
        <p:spPr>
          <a:xfrm>
            <a:off x="7727566" y="3101211"/>
            <a:ext cx="1975485" cy="1693545"/>
          </a:xfrm>
          <a:prstGeom prst="rect">
            <a:avLst/>
          </a:prstGeom>
          <a:blipFill rotWithShape="1">
            <a:blip r:embed="rId14"/>
            <a:srcRect/>
            <a:stretch>
              <a:fillRect/>
            </a:stretch>
          </a:blipFill>
        </p:spPr>
        <p:style>
          <a:lnRef idx="0">
            <a:schemeClr val="accent1">
              <a:hueOff val="0"/>
              <a:satOff val="0"/>
              <a:lumOff val="0"/>
              <a:alphaOff val="0"/>
            </a:schemeClr>
          </a:lnRef>
          <a:fillRef idx="1">
            <a:scrgbClr r="0" g="0" b="0"/>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p>
            <a:endParaRPr lang="en-IN"/>
          </a:p>
        </p:txBody>
      </p:sp>
      <p:sp>
        <p:nvSpPr>
          <p:cNvPr id="14" name="Rectangle 13"/>
          <p:cNvSpPr/>
          <p:nvPr/>
        </p:nvSpPr>
        <p:spPr>
          <a:xfrm>
            <a:off x="9822452" y="3117086"/>
            <a:ext cx="1957070" cy="1677670"/>
          </a:xfrm>
          <a:prstGeom prst="rect">
            <a:avLst/>
          </a:prstGeom>
          <a:blipFill rotWithShape="1">
            <a:blip r:embed="rId15"/>
            <a:srcRect/>
            <a:stretch>
              <a:fillRect t="-80000" b="-80000"/>
            </a:stretch>
          </a:blipFill>
        </p:spPr>
        <p:style>
          <a:lnRef idx="0">
            <a:schemeClr val="accent1">
              <a:hueOff val="0"/>
              <a:satOff val="0"/>
              <a:lumOff val="0"/>
              <a:alphaOff val="0"/>
            </a:schemeClr>
          </a:lnRef>
          <a:fillRef idx="1">
            <a:scrgbClr r="0" g="0" b="0"/>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p>
            <a:endParaRPr lang="en-IN"/>
          </a:p>
        </p:txBody>
      </p:sp>
      <p:sp>
        <p:nvSpPr>
          <p:cNvPr id="8" name="Rectangle 7"/>
          <p:cNvSpPr/>
          <p:nvPr/>
        </p:nvSpPr>
        <p:spPr>
          <a:xfrm>
            <a:off x="7727566" y="2428587"/>
            <a:ext cx="2039126" cy="438181"/>
          </a:xfrm>
          <a:prstGeom prst="rect">
            <a:avLst/>
          </a:prstGeom>
          <a:ln>
            <a:solidFill>
              <a:schemeClr val="tx1"/>
            </a:solidFill>
          </a:ln>
        </p:spPr>
        <p:style>
          <a:lnRef idx="2">
            <a:schemeClr val="accent1">
              <a:shade val="50000"/>
            </a:schemeClr>
          </a:lnRef>
          <a:fillRef idx="1003">
            <a:schemeClr val="lt2"/>
          </a:fillRef>
          <a:effectRef idx="0">
            <a:schemeClr val="accent1"/>
          </a:effectRef>
          <a:fontRef idx="minor">
            <a:schemeClr val="lt1"/>
          </a:fontRef>
        </p:style>
        <p:txBody>
          <a:bodyPr rtlCol="0" anchor="ctr"/>
          <a:lstStyle/>
          <a:p>
            <a:pPr algn="ctr"/>
            <a:r>
              <a:rPr lang="en-US" b="1" dirty="0" smtClean="0">
                <a:ln w="0"/>
                <a:solidFill>
                  <a:schemeClr val="tx1"/>
                </a:solidFill>
                <a:effectLst>
                  <a:outerShdw blurRad="38100" dist="19050" dir="2700000" algn="tl" rotWithShape="0">
                    <a:schemeClr val="dk1">
                      <a:alpha val="40000"/>
                    </a:schemeClr>
                  </a:outerShdw>
                </a:effectLst>
              </a:rPr>
              <a:t>Kashish Gautam</a:t>
            </a:r>
            <a:endParaRPr lang="en-IN" b="1" dirty="0">
              <a:ln w="0"/>
              <a:solidFill>
                <a:schemeClr val="tx1"/>
              </a:solidFill>
              <a:effectLst>
                <a:outerShdw blurRad="38100" dist="19050" dir="2700000" algn="tl" rotWithShape="0">
                  <a:schemeClr val="dk1">
                    <a:alpha val="40000"/>
                  </a:schemeClr>
                </a:outerShdw>
              </a:effectLst>
            </a:endParaRPr>
          </a:p>
        </p:txBody>
      </p:sp>
      <p:sp>
        <p:nvSpPr>
          <p:cNvPr id="9" name="Rectangle 8"/>
          <p:cNvSpPr/>
          <p:nvPr/>
        </p:nvSpPr>
        <p:spPr>
          <a:xfrm>
            <a:off x="9884819" y="2499249"/>
            <a:ext cx="1856130" cy="367519"/>
          </a:xfrm>
          <a:prstGeom prst="rect">
            <a:avLst/>
          </a:prstGeom>
          <a:ln>
            <a:solidFill>
              <a:schemeClr val="tx1"/>
            </a:solidFill>
          </a:ln>
        </p:spPr>
        <p:style>
          <a:lnRef idx="2">
            <a:schemeClr val="accent1">
              <a:shade val="50000"/>
            </a:schemeClr>
          </a:lnRef>
          <a:fillRef idx="1003">
            <a:schemeClr val="lt2"/>
          </a:fillRef>
          <a:effectRef idx="0">
            <a:schemeClr val="accent1"/>
          </a:effectRef>
          <a:fontRef idx="minor">
            <a:schemeClr val="lt1"/>
          </a:fontRef>
        </p:style>
        <p:txBody>
          <a:bodyPr rtlCol="0" anchor="ctr"/>
          <a:lstStyle/>
          <a:p>
            <a:pPr algn="ctr"/>
            <a:r>
              <a:rPr lang="en-US" b="1" dirty="0" smtClean="0">
                <a:ln w="0"/>
                <a:solidFill>
                  <a:schemeClr val="tx1"/>
                </a:solidFill>
                <a:effectLst>
                  <a:outerShdw blurRad="38100" dist="19050" dir="2700000" algn="tl" rotWithShape="0">
                    <a:schemeClr val="dk1">
                      <a:alpha val="40000"/>
                    </a:schemeClr>
                  </a:outerShdw>
                </a:effectLst>
              </a:rPr>
              <a:t>Bhoomi</a:t>
            </a:r>
            <a:endParaRPr lang="en-IN" b="1" dirty="0">
              <a:solidFill>
                <a:schemeClr val="tx1"/>
              </a:solidFill>
            </a:endParaRPr>
          </a:p>
        </p:txBody>
      </p:sp>
      <p:sp>
        <p:nvSpPr>
          <p:cNvPr id="10" name="Rectangle 9"/>
          <p:cNvSpPr/>
          <p:nvPr/>
        </p:nvSpPr>
        <p:spPr>
          <a:xfrm>
            <a:off x="7727566" y="4967752"/>
            <a:ext cx="1975485" cy="411892"/>
          </a:xfrm>
          <a:prstGeom prst="rect">
            <a:avLst/>
          </a:prstGeom>
          <a:ln>
            <a:solidFill>
              <a:schemeClr val="tx1"/>
            </a:solidFill>
          </a:ln>
        </p:spPr>
        <p:style>
          <a:lnRef idx="2">
            <a:schemeClr val="accent1">
              <a:shade val="50000"/>
            </a:schemeClr>
          </a:lnRef>
          <a:fillRef idx="1003">
            <a:schemeClr val="lt2"/>
          </a:fillRef>
          <a:effectRef idx="0">
            <a:schemeClr val="accent1"/>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Ashi</a:t>
            </a:r>
            <a:endParaRPr lang="en-IN" b="1" dirty="0">
              <a:ln w="0"/>
              <a:solidFill>
                <a:schemeClr val="tx1"/>
              </a:solidFill>
              <a:effectLst>
                <a:outerShdw blurRad="38100" dist="19050" dir="2700000" algn="tl" rotWithShape="0">
                  <a:schemeClr val="dk1">
                    <a:alpha val="40000"/>
                  </a:schemeClr>
                </a:outerShdw>
              </a:effectLst>
            </a:endParaRPr>
          </a:p>
        </p:txBody>
      </p:sp>
      <p:sp>
        <p:nvSpPr>
          <p:cNvPr id="15" name="Rectangle 14"/>
          <p:cNvSpPr/>
          <p:nvPr/>
        </p:nvSpPr>
        <p:spPr>
          <a:xfrm>
            <a:off x="9884819" y="4959179"/>
            <a:ext cx="1894703" cy="411892"/>
          </a:xfrm>
          <a:prstGeom prst="rect">
            <a:avLst/>
          </a:prstGeom>
          <a:ln>
            <a:solidFill>
              <a:schemeClr val="tx1"/>
            </a:solidFill>
          </a:ln>
        </p:spPr>
        <p:style>
          <a:lnRef idx="2">
            <a:schemeClr val="accent1">
              <a:shade val="50000"/>
            </a:schemeClr>
          </a:lnRef>
          <a:fillRef idx="1003">
            <a:schemeClr val="lt2"/>
          </a:fillRef>
          <a:effectRef idx="0">
            <a:schemeClr val="accent1"/>
          </a:effectRef>
          <a:fontRef idx="minor">
            <a:schemeClr val="lt1"/>
          </a:fontRef>
        </p:style>
        <p:txBody>
          <a:bodyPr rtlCol="0" anchor="ctr"/>
          <a:lstStyle/>
          <a:p>
            <a:pPr algn="ctr"/>
            <a:r>
              <a:rPr lang="en-US" b="1" dirty="0">
                <a:solidFill>
                  <a:schemeClr val="tx1"/>
                </a:solidFill>
              </a:rPr>
              <a:t>Khushi Kashyap</a:t>
            </a:r>
            <a:endParaRPr lang="en-IN" b="1" dirty="0">
              <a:solidFill>
                <a:schemeClr val="tx1"/>
              </a:solidFill>
            </a:endParaRPr>
          </a:p>
        </p:txBody>
      </p:sp>
    </p:spTree>
    <p:extLst>
      <p:ext uri="{BB962C8B-B14F-4D97-AF65-F5344CB8AC3E}">
        <p14:creationId xmlns:p14="http://schemas.microsoft.com/office/powerpoint/2010/main" val="28833501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2AEFFFF2-9EB4-4B6C-B9F8-2BA3EF89A21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070172" cy="6858000"/>
          </a:xfrm>
          <a:prstGeom prst="rect">
            <a:avLst/>
          </a:prstGeom>
          <a:solidFill>
            <a:srgbClr val="4A53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 name="Rectangle 19">
            <a:extLst>
              <a:ext uri="{FF2B5EF4-FFF2-40B4-BE49-F238E27FC236}">
                <a16:creationId xmlns:a16="http://schemas.microsoft.com/office/drawing/2014/main" id="{0D65299F-028F-4AFC-B46A-8DB33E20FE4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BAC87F6E-526A-49B5-995D-42DB656594C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423" y="1443035"/>
            <a:ext cx="3971932" cy="3971930"/>
          </a:xfrm>
          <a:prstGeom prst="ellipse">
            <a:avLst/>
          </a:prstGeom>
          <a:solidFill>
            <a:srgbClr val="FFFFFF"/>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53C86B1-7C33-4A37-A176-9016ACFEE5C4}"/>
              </a:ext>
            </a:extLst>
          </p:cNvPr>
          <p:cNvSpPr>
            <a:spLocks noGrp="1"/>
          </p:cNvSpPr>
          <p:nvPr>
            <p:ph type="title"/>
          </p:nvPr>
        </p:nvSpPr>
        <p:spPr>
          <a:xfrm>
            <a:off x="1260873" y="1586484"/>
            <a:ext cx="3685032" cy="3685032"/>
          </a:xfrm>
          <a:prstGeom prst="ellipse">
            <a:avLst/>
          </a:prstGeom>
          <a:solidFill>
            <a:schemeClr val="accent2">
              <a:lumMod val="75000"/>
            </a:schemeClr>
          </a:solidFill>
          <a:ln>
            <a:noFill/>
          </a:ln>
        </p:spPr>
        <p:txBody>
          <a:bodyPr>
            <a:normAutofit/>
          </a:bodyPr>
          <a:lstStyle/>
          <a:p>
            <a:r>
              <a:rPr lang="en-US" sz="2600">
                <a:solidFill>
                  <a:srgbClr val="FFFFFF"/>
                </a:solidFill>
              </a:rPr>
              <a:t>Workload </a:t>
            </a:r>
            <a:r>
              <a:rPr lang="en-IN" sz="2600">
                <a:solidFill>
                  <a:srgbClr val="FFFFFF"/>
                </a:solidFill>
              </a:rPr>
              <a:t>Division</a:t>
            </a:r>
          </a:p>
        </p:txBody>
      </p:sp>
      <p:sp>
        <p:nvSpPr>
          <p:cNvPr id="3" name="Content Placeholder 2">
            <a:extLst>
              <a:ext uri="{FF2B5EF4-FFF2-40B4-BE49-F238E27FC236}">
                <a16:creationId xmlns:a16="http://schemas.microsoft.com/office/drawing/2014/main" id="{DEFFB6BC-B8A2-4F6A-861D-C36B251B727B}"/>
              </a:ext>
            </a:extLst>
          </p:cNvPr>
          <p:cNvSpPr>
            <a:spLocks noGrp="1"/>
          </p:cNvSpPr>
          <p:nvPr>
            <p:ph idx="1"/>
          </p:nvPr>
        </p:nvSpPr>
        <p:spPr>
          <a:xfrm>
            <a:off x="5525792" y="337751"/>
            <a:ext cx="5320696" cy="5906530"/>
          </a:xfrm>
        </p:spPr>
        <p:txBody>
          <a:bodyPr anchor="ctr">
            <a:normAutofit/>
          </a:bodyPr>
          <a:lstStyle/>
          <a:p>
            <a:pPr marL="0" indent="0" algn="ctr">
              <a:buNone/>
            </a:pPr>
            <a:r>
              <a:rPr lang="en-US" sz="3200" b="1" dirty="0" smtClean="0"/>
              <a:t>Composition </a:t>
            </a:r>
            <a:r>
              <a:rPr lang="en-US" sz="3200" b="1" dirty="0"/>
              <a:t>and Workload </a:t>
            </a:r>
            <a:r>
              <a:rPr lang="en-US" sz="3200" b="1" dirty="0" smtClean="0"/>
              <a:t>Division</a:t>
            </a:r>
          </a:p>
          <a:p>
            <a:pPr lvl="0"/>
            <a:r>
              <a:rPr lang="en-US" b="1" dirty="0" smtClean="0"/>
              <a:t>Kashish Gautam </a:t>
            </a:r>
            <a:r>
              <a:rPr lang="en-US" b="1" dirty="0"/>
              <a:t>-</a:t>
            </a:r>
            <a:r>
              <a:rPr lang="en-US" dirty="0"/>
              <a:t> Developed the complete coding and designed the full Streamlit web dashboard, and also prepared the entire PPT presentation</a:t>
            </a:r>
            <a:r>
              <a:rPr lang="en-US" dirty="0" smtClean="0"/>
              <a:t>.</a:t>
            </a:r>
          </a:p>
          <a:p>
            <a:pPr lvl="0"/>
            <a:r>
              <a:rPr lang="en-US" b="1" dirty="0" smtClean="0"/>
              <a:t>Bhoomi </a:t>
            </a:r>
            <a:r>
              <a:rPr lang="en-US" b="1" dirty="0"/>
              <a:t>– </a:t>
            </a:r>
            <a:r>
              <a:rPr lang="en-US" dirty="0"/>
              <a:t>Prepared the complete project documentation and handled video editing  </a:t>
            </a:r>
            <a:r>
              <a:rPr lang="en-US" dirty="0" smtClean="0"/>
              <a:t>Creation</a:t>
            </a:r>
            <a:r>
              <a:rPr lang="en-IN" dirty="0" smtClean="0"/>
              <a:t>.</a:t>
            </a:r>
            <a:endParaRPr lang="en-IN" dirty="0"/>
          </a:p>
          <a:p>
            <a:pPr lvl="0"/>
            <a:r>
              <a:rPr lang="en-US" b="1" dirty="0"/>
              <a:t>Ashi – </a:t>
            </a:r>
            <a:r>
              <a:rPr lang="en-US" dirty="0"/>
              <a:t>Contributed to coding tasks and provided support in documentation preparation</a:t>
            </a:r>
            <a:r>
              <a:rPr lang="en-US" dirty="0" smtClean="0"/>
              <a:t>.</a:t>
            </a:r>
          </a:p>
          <a:p>
            <a:pPr lvl="0"/>
            <a:r>
              <a:rPr lang="en-US" b="1" dirty="0" smtClean="0"/>
              <a:t>Khushi </a:t>
            </a:r>
            <a:r>
              <a:rPr lang="en-US" b="1" dirty="0"/>
              <a:t>Kashyap –</a:t>
            </a:r>
            <a:r>
              <a:rPr lang="en-US" dirty="0"/>
              <a:t> Assisted in documentation work and contributed to the preparation of the PowerPoint presentation.</a:t>
            </a:r>
            <a:endParaRPr lang="en-US" b="1" dirty="0"/>
          </a:p>
        </p:txBody>
      </p:sp>
    </p:spTree>
    <p:extLst>
      <p:ext uri="{BB962C8B-B14F-4D97-AF65-F5344CB8AC3E}">
        <p14:creationId xmlns:p14="http://schemas.microsoft.com/office/powerpoint/2010/main" val="2277255098"/>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2AEFFFF2-9EB4-4B6C-B9F8-2BA3EF89A21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1" name="Rectangle 20">
            <a:extLst>
              <a:ext uri="{FF2B5EF4-FFF2-40B4-BE49-F238E27FC236}">
                <a16:creationId xmlns:a16="http://schemas.microsoft.com/office/drawing/2014/main" id="{0D65299F-028F-4AFC-B46A-8DB33E20FE4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AC87F6E-526A-49B5-995D-42DB656594C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423" y="1443035"/>
            <a:ext cx="3971932" cy="3971930"/>
          </a:xfrm>
          <a:prstGeom prst="ellipse">
            <a:avLst/>
          </a:prstGeom>
          <a:solidFill>
            <a:srgbClr val="FFFFFF"/>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1B94EB9-4981-4B64-BA7E-735F6CAD4324}"/>
              </a:ext>
            </a:extLst>
          </p:cNvPr>
          <p:cNvSpPr>
            <a:spLocks noGrp="1"/>
          </p:cNvSpPr>
          <p:nvPr>
            <p:ph type="title"/>
          </p:nvPr>
        </p:nvSpPr>
        <p:spPr>
          <a:xfrm>
            <a:off x="1260873" y="1586484"/>
            <a:ext cx="3685032" cy="3685032"/>
          </a:xfrm>
          <a:prstGeom prst="ellipse">
            <a:avLst/>
          </a:prstGeom>
          <a:solidFill>
            <a:schemeClr val="accent2">
              <a:lumMod val="75000"/>
            </a:schemeClr>
          </a:solidFill>
          <a:ln>
            <a:noFill/>
          </a:ln>
        </p:spPr>
        <p:txBody>
          <a:bodyPr>
            <a:normAutofit/>
          </a:bodyPr>
          <a:lstStyle/>
          <a:p>
            <a:r>
              <a:rPr lang="en-IN" sz="2100" dirty="0">
                <a:solidFill>
                  <a:srgbClr val="FFFFFF"/>
                </a:solidFill>
              </a:rPr>
              <a:t>The Background</a:t>
            </a:r>
            <a:endParaRPr lang="en-IN" sz="2100" dirty="0">
              <a:solidFill>
                <a:srgbClr val="000000"/>
              </a:solidFill>
            </a:endParaRPr>
          </a:p>
          <a:p>
            <a:endParaRPr lang="en-IN" dirty="0">
              <a:solidFill>
                <a:srgbClr val="FFFFFF"/>
              </a:solidFill>
            </a:endParaRPr>
          </a:p>
        </p:txBody>
      </p:sp>
      <p:sp>
        <p:nvSpPr>
          <p:cNvPr id="3" name="Content Placeholder 2">
            <a:extLst>
              <a:ext uri="{FF2B5EF4-FFF2-40B4-BE49-F238E27FC236}">
                <a16:creationId xmlns:a16="http://schemas.microsoft.com/office/drawing/2014/main" id="{2473D968-550A-45A2-B636-4D6F7BFB4421}"/>
              </a:ext>
            </a:extLst>
          </p:cNvPr>
          <p:cNvSpPr>
            <a:spLocks noGrp="1"/>
          </p:cNvSpPr>
          <p:nvPr>
            <p:ph idx="1"/>
          </p:nvPr>
        </p:nvSpPr>
        <p:spPr>
          <a:xfrm>
            <a:off x="5591695" y="527222"/>
            <a:ext cx="5320696" cy="4928698"/>
          </a:xfrm>
        </p:spPr>
        <p:txBody>
          <a:bodyPr anchor="ctr">
            <a:normAutofit/>
          </a:bodyPr>
          <a:lstStyle/>
          <a:p>
            <a:r>
              <a:rPr lang="en-US" dirty="0"/>
              <a:t>A CCTV surveillance style background can also be used, featuring faint camera overlays, control room screens, and HUD (heads-up display) elements to emphasize security monitoring. This makes the presentation more realistic and impactful, especially for a violence detection system.</a:t>
            </a:r>
          </a:p>
          <a:p>
            <a:r>
              <a:rPr lang="en-US" dirty="0"/>
              <a:t>Another option is an AI neural network background with glowing nodes and digital connections, which highlights the machine learning aspect of the project. This works well if you want to focus more on the AI/ML technology behind the system.</a:t>
            </a:r>
          </a:p>
          <a:p>
            <a:r>
              <a:rPr lang="en-US" dirty="0"/>
              <a:t>Overall, the best choice is a dark cyber-security theme with cyan accents, as it balances both AI intelligence and surveillance security, making your PPT look modern, clean, and professional.</a:t>
            </a:r>
          </a:p>
          <a:p>
            <a:endParaRPr lang="en-IN" dirty="0">
              <a:ea typeface="+mn-lt"/>
              <a:cs typeface="+mn-lt"/>
            </a:endParaRPr>
          </a:p>
        </p:txBody>
      </p:sp>
    </p:spTree>
    <p:extLst>
      <p:ext uri="{BB962C8B-B14F-4D97-AF65-F5344CB8AC3E}">
        <p14:creationId xmlns:p14="http://schemas.microsoft.com/office/powerpoint/2010/main" val="1023676988"/>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AEFFFF2-9EB4-4B6C-B9F8-2BA3EF89A21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D65299F-028F-4AFC-B46A-8DB33E20FE4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BAC87F6E-526A-49B5-995D-42DB656594C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423" y="1443035"/>
            <a:ext cx="3971932" cy="3971930"/>
          </a:xfrm>
          <a:prstGeom prst="ellipse">
            <a:avLst/>
          </a:prstGeom>
          <a:solidFill>
            <a:srgbClr val="FFFFFF"/>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0B347B7-4FBF-466B-B290-31F20EBCD3F1}"/>
              </a:ext>
            </a:extLst>
          </p:cNvPr>
          <p:cNvSpPr>
            <a:spLocks noGrp="1"/>
          </p:cNvSpPr>
          <p:nvPr>
            <p:ph type="title"/>
          </p:nvPr>
        </p:nvSpPr>
        <p:spPr>
          <a:xfrm>
            <a:off x="1232995" y="1586484"/>
            <a:ext cx="3685032" cy="3685032"/>
          </a:xfrm>
          <a:prstGeom prst="ellipse">
            <a:avLst/>
          </a:prstGeom>
          <a:solidFill>
            <a:schemeClr val="accent2">
              <a:lumMod val="75000"/>
            </a:schemeClr>
          </a:solidFill>
          <a:ln>
            <a:noFill/>
          </a:ln>
        </p:spPr>
        <p:txBody>
          <a:bodyPr>
            <a:normAutofit/>
          </a:bodyPr>
          <a:lstStyle/>
          <a:p>
            <a:r>
              <a:rPr lang="en-IN" sz="3000" dirty="0">
                <a:solidFill>
                  <a:srgbClr val="FFFFFF"/>
                </a:solidFill>
              </a:rPr>
              <a:t>Proposed Solution</a:t>
            </a:r>
          </a:p>
        </p:txBody>
      </p:sp>
      <p:sp>
        <p:nvSpPr>
          <p:cNvPr id="3" name="Content Placeholder 2">
            <a:extLst>
              <a:ext uri="{FF2B5EF4-FFF2-40B4-BE49-F238E27FC236}">
                <a16:creationId xmlns:a16="http://schemas.microsoft.com/office/drawing/2014/main" id="{C46ED790-B911-4363-9E4B-39B6B5FCE59E}"/>
              </a:ext>
            </a:extLst>
          </p:cNvPr>
          <p:cNvSpPr>
            <a:spLocks noGrp="1"/>
          </p:cNvSpPr>
          <p:nvPr>
            <p:ph idx="1"/>
          </p:nvPr>
        </p:nvSpPr>
        <p:spPr>
          <a:xfrm>
            <a:off x="5591695" y="1402080"/>
            <a:ext cx="5320696" cy="4053840"/>
          </a:xfrm>
        </p:spPr>
        <p:txBody>
          <a:bodyPr anchor="ctr">
            <a:normAutofit lnSpcReduction="10000"/>
          </a:bodyPr>
          <a:lstStyle/>
          <a:p>
            <a:r>
              <a:rPr lang="en-US" dirty="0"/>
              <a:t>The proposed solution is an </a:t>
            </a:r>
            <a:r>
              <a:rPr lang="en-US" b="1" dirty="0"/>
              <a:t>AI-based real-time violence detection system</a:t>
            </a:r>
            <a:r>
              <a:rPr lang="en-US" dirty="0"/>
              <a:t> that analyzes CCTV or video footage using computer vision. It detects abnormal activity based on motion intensity and triggers instant alerts when a threat is identified. The results are displayed on an interactive Streamlit dashboard with live video monitoring and analytics, helping improve surveillance efficiency and public safety.</a:t>
            </a:r>
          </a:p>
          <a:p>
            <a:r>
              <a:rPr lang="en-US" dirty="0"/>
              <a:t>Overall, the proposed solution aims to reduce dependence on human monitoring, improve response time to critical situations, and provide a scalable, intelligent, and real-time surveillance system for enhanced public safety.</a:t>
            </a:r>
            <a:endParaRPr lang="en-IN" dirty="0"/>
          </a:p>
        </p:txBody>
      </p:sp>
    </p:spTree>
    <p:extLst>
      <p:ext uri="{BB962C8B-B14F-4D97-AF65-F5344CB8AC3E}">
        <p14:creationId xmlns:p14="http://schemas.microsoft.com/office/powerpoint/2010/main" val="17411871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AEFFFF2-9EB4-4B6C-B9F8-2BA3EF89A21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D65299F-028F-4AFC-B46A-8DB33E20FE4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BAC87F6E-526A-49B5-995D-42DB656594C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423" y="1443035"/>
            <a:ext cx="3971932" cy="3971930"/>
          </a:xfrm>
          <a:prstGeom prst="ellipse">
            <a:avLst/>
          </a:prstGeom>
          <a:solidFill>
            <a:srgbClr val="FFFFFF"/>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F7D89FB-6AE0-4387-B7C5-B6BE39BA7579}"/>
              </a:ext>
            </a:extLst>
          </p:cNvPr>
          <p:cNvSpPr>
            <a:spLocks noGrp="1"/>
          </p:cNvSpPr>
          <p:nvPr>
            <p:ph type="title"/>
          </p:nvPr>
        </p:nvSpPr>
        <p:spPr>
          <a:xfrm>
            <a:off x="1260873" y="1522985"/>
            <a:ext cx="3685032" cy="3893673"/>
          </a:xfrm>
          <a:prstGeom prst="ellipse">
            <a:avLst/>
          </a:prstGeom>
          <a:solidFill>
            <a:schemeClr val="accent2">
              <a:lumMod val="75000"/>
            </a:schemeClr>
          </a:solidFill>
          <a:ln>
            <a:noFill/>
          </a:ln>
        </p:spPr>
        <p:txBody>
          <a:bodyPr>
            <a:normAutofit/>
          </a:bodyPr>
          <a:lstStyle/>
          <a:p>
            <a:r>
              <a:rPr lang="en-IN" sz="3000" dirty="0">
                <a:solidFill>
                  <a:srgbClr val="FFFFFF"/>
                </a:solidFill>
              </a:rPr>
              <a:t>Solution Design</a:t>
            </a:r>
          </a:p>
        </p:txBody>
      </p:sp>
      <p:sp>
        <p:nvSpPr>
          <p:cNvPr id="5" name="Rectangle 2"/>
          <p:cNvSpPr>
            <a:spLocks noGrp="1" noChangeArrowheads="1"/>
          </p:cNvSpPr>
          <p:nvPr>
            <p:ph idx="1"/>
          </p:nvPr>
        </p:nvSpPr>
        <p:spPr bwMode="auto">
          <a:xfrm>
            <a:off x="5591175" y="959094"/>
            <a:ext cx="6534922" cy="49398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mj-lt"/>
                <a:cs typeface="Times New Roman" panose="02020603050405020304" pitchFamily="18" charset="0"/>
              </a:rPr>
              <a:t>AI-based real-time violence detection system using computer vision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mj-lt"/>
                <a:cs typeface="Times New Roman" panose="02020603050405020304" pitchFamily="18" charset="0"/>
              </a:rPr>
              <a:t>Video input from CCTV or uploaded files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mj-lt"/>
                <a:cs typeface="Times New Roman" panose="02020603050405020304" pitchFamily="18" charset="0"/>
              </a:rPr>
              <a:t>Frame-by-frame processing using OpenCV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mj-lt"/>
                <a:cs typeface="Times New Roman" panose="02020603050405020304" pitchFamily="18" charset="0"/>
              </a:rPr>
              <a:t>Frames converted to grayscale for analysis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mj-lt"/>
                <a:cs typeface="Times New Roman" panose="02020603050405020304" pitchFamily="18" charset="0"/>
              </a:rPr>
              <a:t>Motion intensity score calculated for each frame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mj-lt"/>
                <a:cs typeface="Times New Roman" panose="02020603050405020304" pitchFamily="18" charset="0"/>
              </a:rPr>
              <a:t>Threshold-based classification (Safe / Violence detected)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mj-lt"/>
                <a:cs typeface="Times New Roman" panose="02020603050405020304" pitchFamily="18" charset="0"/>
              </a:rPr>
              <a:t>Real-time alerts displayed on Streamlit dashboard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mj-lt"/>
                <a:cs typeface="Times New Roman" panose="02020603050405020304" pitchFamily="18" charset="0"/>
              </a:rPr>
              <a:t>Interactive UI with live video monitoring panel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mj-lt"/>
                <a:cs typeface="Times New Roman" panose="02020603050405020304" pitchFamily="18" charset="0"/>
              </a:rPr>
              <a:t>Analytics using Plotly (line, pie, radar, scatter charts)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mj-lt"/>
                <a:cs typeface="Times New Roman" panose="02020603050405020304" pitchFamily="18" charset="0"/>
              </a:rPr>
              <a:t>Activity logs and system status monitoring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mj-lt"/>
                <a:cs typeface="Times New Roman" panose="02020603050405020304" pitchFamily="18" charset="0"/>
              </a:rPr>
              <a:t>Designed for fast response and improved surveillance efficiency </a:t>
            </a:r>
          </a:p>
        </p:txBody>
      </p:sp>
    </p:spTree>
    <p:extLst>
      <p:ext uri="{BB962C8B-B14F-4D97-AF65-F5344CB8AC3E}">
        <p14:creationId xmlns:p14="http://schemas.microsoft.com/office/powerpoint/2010/main" val="3081956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AEFFFF2-9EB4-4B6C-B9F8-2BA3EF89A21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D65299F-028F-4AFC-B46A-8DB33E20FE4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BAC87F6E-526A-49B5-995D-42DB656594C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423" y="1443035"/>
            <a:ext cx="3971932" cy="3971930"/>
          </a:xfrm>
          <a:prstGeom prst="ellipse">
            <a:avLst/>
          </a:prstGeom>
          <a:solidFill>
            <a:srgbClr val="FFFFFF"/>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62218D5-F128-490E-8152-7D32E2A4AAF2}"/>
              </a:ext>
            </a:extLst>
          </p:cNvPr>
          <p:cNvSpPr>
            <a:spLocks noGrp="1"/>
          </p:cNvSpPr>
          <p:nvPr>
            <p:ph type="title"/>
          </p:nvPr>
        </p:nvSpPr>
        <p:spPr>
          <a:xfrm>
            <a:off x="1260873" y="1586484"/>
            <a:ext cx="3685032" cy="3685032"/>
          </a:xfrm>
          <a:prstGeom prst="ellipse">
            <a:avLst/>
          </a:prstGeom>
          <a:solidFill>
            <a:schemeClr val="accent2">
              <a:lumMod val="75000"/>
            </a:schemeClr>
          </a:solidFill>
          <a:ln>
            <a:noFill/>
          </a:ln>
        </p:spPr>
        <p:txBody>
          <a:bodyPr>
            <a:normAutofit/>
          </a:bodyPr>
          <a:lstStyle/>
          <a:p>
            <a:r>
              <a:rPr lang="en-IN" sz="2000" dirty="0">
                <a:solidFill>
                  <a:srgbClr val="FFFFFF"/>
                </a:solidFill>
              </a:rPr>
              <a:t>Technology Stack &amp; Requirements</a:t>
            </a:r>
            <a:endParaRPr lang="en-US" dirty="0"/>
          </a:p>
        </p:txBody>
      </p:sp>
      <p:sp>
        <p:nvSpPr>
          <p:cNvPr id="3" name="Content Placeholder 2">
            <a:extLst>
              <a:ext uri="{FF2B5EF4-FFF2-40B4-BE49-F238E27FC236}">
                <a16:creationId xmlns:a16="http://schemas.microsoft.com/office/drawing/2014/main" id="{D937833B-3907-4B83-9F77-D0F494B71546}"/>
              </a:ext>
            </a:extLst>
          </p:cNvPr>
          <p:cNvSpPr>
            <a:spLocks noGrp="1"/>
          </p:cNvSpPr>
          <p:nvPr>
            <p:ph idx="1"/>
          </p:nvPr>
        </p:nvSpPr>
        <p:spPr>
          <a:xfrm>
            <a:off x="5591695" y="405113"/>
            <a:ext cx="5320696" cy="6349913"/>
          </a:xfrm>
        </p:spPr>
        <p:txBody>
          <a:bodyPr anchor="ctr">
            <a:normAutofit fontScale="62500" lnSpcReduction="20000"/>
          </a:bodyPr>
          <a:lstStyle/>
          <a:p>
            <a:endParaRPr lang="en-IN" sz="2000" b="1" u="sng" dirty="0"/>
          </a:p>
          <a:p>
            <a:r>
              <a:rPr lang="en-IN" sz="2600" b="1" dirty="0">
                <a:solidFill>
                  <a:schemeClr val="tx1"/>
                </a:solidFill>
                <a:latin typeface="+mj-lt"/>
                <a:cs typeface="Times New Roman" panose="02020603050405020304" pitchFamily="18" charset="0"/>
              </a:rPr>
              <a:t>Technology </a:t>
            </a:r>
            <a:r>
              <a:rPr lang="en-IN" sz="2600" b="1" dirty="0" smtClean="0">
                <a:solidFill>
                  <a:schemeClr val="tx1"/>
                </a:solidFill>
                <a:latin typeface="+mj-lt"/>
                <a:cs typeface="Times New Roman" panose="02020603050405020304" pitchFamily="18" charset="0"/>
              </a:rPr>
              <a:t>Stack:-</a:t>
            </a:r>
            <a:endParaRPr lang="en-IN" sz="2600" b="1" dirty="0">
              <a:solidFill>
                <a:schemeClr val="tx1"/>
              </a:solidFill>
              <a:latin typeface="+mj-lt"/>
              <a:cs typeface="Times New Roman" panose="02020603050405020304" pitchFamily="18" charset="0"/>
            </a:endParaRPr>
          </a:p>
          <a:p>
            <a:r>
              <a:rPr lang="en-IN" sz="2200" b="1" dirty="0">
                <a:latin typeface="Times New Roman" panose="02020603050405020304" pitchFamily="18" charset="0"/>
                <a:cs typeface="Times New Roman" panose="02020603050405020304" pitchFamily="18" charset="0"/>
              </a:rPr>
              <a:t>Programming Language:</a:t>
            </a:r>
            <a:r>
              <a:rPr lang="en-IN" sz="2200" dirty="0">
                <a:latin typeface="Times New Roman" panose="02020603050405020304" pitchFamily="18" charset="0"/>
                <a:cs typeface="Times New Roman" panose="02020603050405020304" pitchFamily="18" charset="0"/>
              </a:rPr>
              <a:t> Python </a:t>
            </a:r>
          </a:p>
          <a:p>
            <a:r>
              <a:rPr lang="en-IN" sz="2200" b="1" dirty="0">
                <a:latin typeface="Times New Roman" panose="02020603050405020304" pitchFamily="18" charset="0"/>
                <a:cs typeface="Times New Roman" panose="02020603050405020304" pitchFamily="18" charset="0"/>
              </a:rPr>
              <a:t>Frontend Framework:</a:t>
            </a:r>
            <a:r>
              <a:rPr lang="en-IN" sz="2200" dirty="0">
                <a:latin typeface="Times New Roman" panose="02020603050405020304" pitchFamily="18" charset="0"/>
                <a:cs typeface="Times New Roman" panose="02020603050405020304" pitchFamily="18" charset="0"/>
              </a:rPr>
              <a:t> Streamlit </a:t>
            </a:r>
          </a:p>
          <a:p>
            <a:r>
              <a:rPr lang="en-IN" sz="2200" b="1" dirty="0">
                <a:latin typeface="+mj-lt"/>
                <a:cs typeface="Times New Roman" panose="02020603050405020304" pitchFamily="18" charset="0"/>
              </a:rPr>
              <a:t>Computer</a:t>
            </a:r>
            <a:r>
              <a:rPr lang="en-IN" sz="2200" b="1" dirty="0">
                <a:latin typeface="Times New Roman" panose="02020603050405020304" pitchFamily="18" charset="0"/>
                <a:cs typeface="Times New Roman" panose="02020603050405020304" pitchFamily="18" charset="0"/>
              </a:rPr>
              <a:t> Vision Library:</a:t>
            </a:r>
            <a:r>
              <a:rPr lang="en-IN" sz="2200" dirty="0">
                <a:latin typeface="Times New Roman" panose="02020603050405020304" pitchFamily="18" charset="0"/>
                <a:cs typeface="Times New Roman" panose="02020603050405020304" pitchFamily="18" charset="0"/>
              </a:rPr>
              <a:t> OpenCV </a:t>
            </a:r>
          </a:p>
          <a:p>
            <a:r>
              <a:rPr lang="en-IN" sz="2200" b="1" dirty="0">
                <a:latin typeface="Times New Roman" panose="02020603050405020304" pitchFamily="18" charset="0"/>
                <a:cs typeface="Times New Roman" panose="02020603050405020304" pitchFamily="18" charset="0"/>
              </a:rPr>
              <a:t>Data Handling:</a:t>
            </a:r>
            <a:r>
              <a:rPr lang="en-IN" sz="2200" dirty="0">
                <a:latin typeface="Times New Roman" panose="02020603050405020304" pitchFamily="18" charset="0"/>
                <a:cs typeface="Times New Roman" panose="02020603050405020304" pitchFamily="18" charset="0"/>
              </a:rPr>
              <a:t> Pandas </a:t>
            </a:r>
          </a:p>
          <a:p>
            <a:r>
              <a:rPr lang="en-IN" sz="2200" b="1" dirty="0">
                <a:latin typeface="Times New Roman" panose="02020603050405020304" pitchFamily="18" charset="0"/>
                <a:cs typeface="Times New Roman" panose="02020603050405020304" pitchFamily="18" charset="0"/>
              </a:rPr>
              <a:t>Data Visualization:</a:t>
            </a:r>
            <a:r>
              <a:rPr lang="en-IN" sz="2200" dirty="0">
                <a:latin typeface="Times New Roman" panose="02020603050405020304" pitchFamily="18" charset="0"/>
                <a:cs typeface="Times New Roman" panose="02020603050405020304" pitchFamily="18" charset="0"/>
              </a:rPr>
              <a:t> Plotly </a:t>
            </a:r>
          </a:p>
          <a:p>
            <a:r>
              <a:rPr lang="en-IN" sz="2200" b="1" dirty="0">
                <a:latin typeface="Times New Roman" panose="02020603050405020304" pitchFamily="18" charset="0"/>
                <a:cs typeface="Times New Roman" panose="02020603050405020304" pitchFamily="18" charset="0"/>
              </a:rPr>
              <a:t>Temporary File Handling:</a:t>
            </a:r>
            <a:r>
              <a:rPr lang="en-IN" sz="2200" dirty="0">
                <a:latin typeface="Times New Roman" panose="02020603050405020304" pitchFamily="18" charset="0"/>
                <a:cs typeface="Times New Roman" panose="02020603050405020304" pitchFamily="18" charset="0"/>
              </a:rPr>
              <a:t> Tempfile</a:t>
            </a:r>
          </a:p>
          <a:p>
            <a:r>
              <a:rPr lang="en-IN" sz="2600" b="1" dirty="0">
                <a:cs typeface="Times New Roman" panose="02020603050405020304" pitchFamily="18" charset="0"/>
              </a:rPr>
              <a:t>System </a:t>
            </a:r>
            <a:r>
              <a:rPr lang="en-IN" sz="2600" b="1" dirty="0" smtClean="0">
                <a:cs typeface="Times New Roman" panose="02020603050405020304" pitchFamily="18" charset="0"/>
              </a:rPr>
              <a:t>Requirements:-</a:t>
            </a:r>
            <a:endParaRPr lang="en-IN" sz="2600" b="1" dirty="0">
              <a:cs typeface="Times New Roman" panose="02020603050405020304" pitchFamily="18" charset="0"/>
            </a:endParaRPr>
          </a:p>
          <a:p>
            <a:r>
              <a:rPr lang="en-IN" sz="2200" dirty="0">
                <a:latin typeface="Times New Roman" panose="02020603050405020304" pitchFamily="18" charset="0"/>
                <a:cs typeface="Times New Roman" panose="02020603050405020304" pitchFamily="18" charset="0"/>
              </a:rPr>
              <a:t>Python 3.x installed </a:t>
            </a:r>
          </a:p>
          <a:p>
            <a:r>
              <a:rPr lang="en-IN" sz="2200" dirty="0">
                <a:latin typeface="Times New Roman" panose="02020603050405020304" pitchFamily="18" charset="0"/>
                <a:cs typeface="Times New Roman" panose="02020603050405020304" pitchFamily="18" charset="0"/>
              </a:rPr>
              <a:t>VS Code / PyCharm / Jupyter environment </a:t>
            </a:r>
          </a:p>
          <a:p>
            <a:r>
              <a:rPr lang="en-IN" sz="2200" dirty="0">
                <a:latin typeface="Times New Roman" panose="02020603050405020304" pitchFamily="18" charset="0"/>
                <a:cs typeface="Times New Roman" panose="02020603050405020304" pitchFamily="18" charset="0"/>
              </a:rPr>
              <a:t>Webcam or CCTV video input </a:t>
            </a:r>
          </a:p>
          <a:p>
            <a:r>
              <a:rPr lang="en-IN" sz="2200" dirty="0">
                <a:latin typeface="Times New Roman" panose="02020603050405020304" pitchFamily="18" charset="0"/>
                <a:cs typeface="Times New Roman" panose="02020603050405020304" pitchFamily="18" charset="0"/>
              </a:rPr>
              <a:t>Minimum 4GB RAM </a:t>
            </a:r>
          </a:p>
          <a:p>
            <a:r>
              <a:rPr lang="en-IN" sz="2200" dirty="0">
                <a:latin typeface="Times New Roman" panose="02020603050405020304" pitchFamily="18" charset="0"/>
                <a:cs typeface="Times New Roman" panose="02020603050405020304" pitchFamily="18" charset="0"/>
              </a:rPr>
              <a:t>Windows/Linux operating system </a:t>
            </a:r>
          </a:p>
          <a:p>
            <a:r>
              <a:rPr lang="en-IN" sz="2200" dirty="0">
                <a:latin typeface="Times New Roman" panose="02020603050405020304" pitchFamily="18" charset="0"/>
                <a:cs typeface="Times New Roman" panose="02020603050405020304" pitchFamily="18" charset="0"/>
              </a:rPr>
              <a:t>Required Python libraries installed: </a:t>
            </a:r>
          </a:p>
          <a:p>
            <a:pPr lvl="1"/>
            <a:r>
              <a:rPr lang="en-IN" sz="2200" dirty="0">
                <a:latin typeface="Times New Roman" panose="02020603050405020304" pitchFamily="18" charset="0"/>
                <a:cs typeface="Times New Roman" panose="02020603050405020304" pitchFamily="18" charset="0"/>
              </a:rPr>
              <a:t>streamlit </a:t>
            </a:r>
          </a:p>
          <a:p>
            <a:pPr lvl="1"/>
            <a:r>
              <a:rPr lang="en-IN" sz="2200" dirty="0">
                <a:latin typeface="Times New Roman" panose="02020603050405020304" pitchFamily="18" charset="0"/>
                <a:cs typeface="Times New Roman" panose="02020603050405020304" pitchFamily="18" charset="0"/>
              </a:rPr>
              <a:t>opencv-python </a:t>
            </a:r>
          </a:p>
          <a:p>
            <a:pPr lvl="1"/>
            <a:r>
              <a:rPr lang="en-IN" sz="2200" dirty="0">
                <a:latin typeface="Times New Roman" panose="02020603050405020304" pitchFamily="18" charset="0"/>
                <a:cs typeface="Times New Roman" panose="02020603050405020304" pitchFamily="18" charset="0"/>
              </a:rPr>
              <a:t>pandas </a:t>
            </a:r>
          </a:p>
          <a:p>
            <a:pPr lvl="1"/>
            <a:r>
              <a:rPr lang="en-IN" sz="2200" dirty="0">
                <a:latin typeface="Times New Roman" panose="02020603050405020304" pitchFamily="18" charset="0"/>
                <a:cs typeface="Times New Roman" panose="02020603050405020304" pitchFamily="18" charset="0"/>
              </a:rPr>
              <a:t>plotly</a:t>
            </a:r>
          </a:p>
          <a:p>
            <a:r>
              <a:rPr lang="en-IN" sz="2200" b="1" dirty="0">
                <a:latin typeface="Times New Roman" panose="02020603050405020304" pitchFamily="18" charset="0"/>
                <a:cs typeface="Times New Roman" panose="02020603050405020304" pitchFamily="18" charset="0"/>
              </a:rPr>
              <a:t>Installation Command</a:t>
            </a:r>
          </a:p>
          <a:p>
            <a:r>
              <a:rPr lang="en-US" sz="2200" dirty="0">
                <a:latin typeface="Times New Roman" panose="02020603050405020304" pitchFamily="18" charset="0"/>
                <a:cs typeface="Times New Roman" panose="02020603050405020304" pitchFamily="18" charset="0"/>
              </a:rPr>
              <a:t>pip install streamlit opencv-python pandas plotly</a:t>
            </a:r>
            <a:endParaRPr lang="en-IN" sz="2200" dirty="0">
              <a:latin typeface="Times New Roman" panose="02020603050405020304" pitchFamily="18" charset="0"/>
              <a:cs typeface="Times New Roman" panose="02020603050405020304" pitchFamily="18" charset="0"/>
            </a:endParaRPr>
          </a:p>
          <a:p>
            <a:endParaRPr lang="en-IN" b="1" dirty="0"/>
          </a:p>
        </p:txBody>
      </p:sp>
    </p:spTree>
    <p:extLst>
      <p:ext uri="{BB962C8B-B14F-4D97-AF65-F5344CB8AC3E}">
        <p14:creationId xmlns:p14="http://schemas.microsoft.com/office/powerpoint/2010/main" val="49661964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5" name="Picture 4" descr="Five bulbs and one of them is glowing">
            <a:extLst>
              <a:ext uri="{FF2B5EF4-FFF2-40B4-BE49-F238E27FC236}">
                <a16:creationId xmlns:a16="http://schemas.microsoft.com/office/drawing/2014/main" id="{6502B327-023B-19C1-2A07-58822C3EC950}"/>
              </a:ext>
            </a:extLst>
          </p:cNvPr>
          <p:cNvPicPr>
            <a:picLocks noChangeAspect="1"/>
          </p:cNvPicPr>
          <p:nvPr/>
        </p:nvPicPr>
        <p:blipFill>
          <a:blip r:embed="rId2"/>
          <a:srcRect l="20348" r="20317" b="-1"/>
          <a:stretch/>
        </p:blipFill>
        <p:spPr>
          <a:xfrm>
            <a:off x="642" y="10"/>
            <a:ext cx="6096000" cy="6857990"/>
          </a:xfrm>
          <a:prstGeom prst="rect">
            <a:avLst/>
          </a:prstGeom>
        </p:spPr>
      </p:pic>
      <p:sp>
        <p:nvSpPr>
          <p:cNvPr id="2" name="Title 1">
            <a:extLst>
              <a:ext uri="{FF2B5EF4-FFF2-40B4-BE49-F238E27FC236}">
                <a16:creationId xmlns:a16="http://schemas.microsoft.com/office/drawing/2014/main" id="{7AED9BD6-F510-4FEC-BBC3-026270D71F4F}"/>
              </a:ext>
            </a:extLst>
          </p:cNvPr>
          <p:cNvSpPr>
            <a:spLocks noGrp="1"/>
          </p:cNvSpPr>
          <p:nvPr>
            <p:ph type="title"/>
          </p:nvPr>
        </p:nvSpPr>
        <p:spPr>
          <a:xfrm>
            <a:off x="931994" y="2841504"/>
            <a:ext cx="4487298" cy="1174991"/>
          </a:xfrm>
          <a:solidFill>
            <a:schemeClr val="tx1">
              <a:alpha val="60000"/>
            </a:schemeClr>
          </a:solidFill>
          <a:ln>
            <a:solidFill>
              <a:schemeClr val="bg1"/>
            </a:solidFill>
          </a:ln>
        </p:spPr>
        <p:txBody>
          <a:bodyPr>
            <a:normAutofit/>
          </a:bodyPr>
          <a:lstStyle/>
          <a:p>
            <a:r>
              <a:rPr lang="en-IN" sz="2400" dirty="0">
                <a:solidFill>
                  <a:schemeClr val="bg1"/>
                </a:solidFill>
              </a:rPr>
              <a:t>Innovative Idea</a:t>
            </a:r>
          </a:p>
        </p:txBody>
      </p:sp>
      <p:sp>
        <p:nvSpPr>
          <p:cNvPr id="3" name="Content Placeholder 2">
            <a:extLst>
              <a:ext uri="{FF2B5EF4-FFF2-40B4-BE49-F238E27FC236}">
                <a16:creationId xmlns:a16="http://schemas.microsoft.com/office/drawing/2014/main" id="{9644AC4F-2932-4F44-A84F-2F39667FE8D6}"/>
              </a:ext>
            </a:extLst>
          </p:cNvPr>
          <p:cNvSpPr>
            <a:spLocks noGrp="1"/>
          </p:cNvSpPr>
          <p:nvPr>
            <p:ph idx="1"/>
          </p:nvPr>
        </p:nvSpPr>
        <p:spPr>
          <a:xfrm>
            <a:off x="6743941" y="593125"/>
            <a:ext cx="4804931" cy="5302820"/>
          </a:xfrm>
        </p:spPr>
        <p:txBody>
          <a:bodyPr anchor="ctr">
            <a:normAutofit lnSpcReduction="10000"/>
          </a:bodyPr>
          <a:lstStyle/>
          <a:p>
            <a:r>
              <a:rPr lang="en-US" dirty="0"/>
              <a:t>AI-powered real-time violence detection for smart </a:t>
            </a:r>
            <a:r>
              <a:rPr lang="en-US" dirty="0" smtClean="0"/>
              <a:t>surveillance.</a:t>
            </a:r>
          </a:p>
          <a:p>
            <a:r>
              <a:rPr lang="en-US" dirty="0"/>
              <a:t>Automatic threat detection without continuous human </a:t>
            </a:r>
            <a:r>
              <a:rPr lang="en-US" dirty="0" smtClean="0"/>
              <a:t>monitoring.</a:t>
            </a:r>
          </a:p>
          <a:p>
            <a:r>
              <a:rPr lang="en-US" dirty="0"/>
              <a:t>Interactive dashboard with live alerts and </a:t>
            </a:r>
            <a:r>
              <a:rPr lang="en-US" dirty="0" smtClean="0"/>
              <a:t>analytics.</a:t>
            </a:r>
          </a:p>
          <a:p>
            <a:r>
              <a:rPr lang="en-US" dirty="0"/>
              <a:t>Real-time visualization of threat trends and security </a:t>
            </a:r>
            <a:r>
              <a:rPr lang="en-US" dirty="0" smtClean="0"/>
              <a:t>status.</a:t>
            </a:r>
          </a:p>
          <a:p>
            <a:r>
              <a:rPr lang="en-IN" dirty="0"/>
              <a:t>Smart alert system for faster emergency </a:t>
            </a:r>
            <a:r>
              <a:rPr lang="en-IN" dirty="0" smtClean="0"/>
              <a:t>response.</a:t>
            </a:r>
          </a:p>
          <a:p>
            <a:r>
              <a:rPr lang="en-US" dirty="0"/>
              <a:t>Combines Computer Vision, AI, and </a:t>
            </a:r>
            <a:r>
              <a:rPr lang="en-US" dirty="0" smtClean="0"/>
              <a:t>Data. </a:t>
            </a:r>
            <a:r>
              <a:rPr lang="en-US" dirty="0"/>
              <a:t>Analytics in one </a:t>
            </a:r>
            <a:r>
              <a:rPr lang="en-US" dirty="0" smtClean="0"/>
              <a:t>platform.</a:t>
            </a:r>
          </a:p>
          <a:p>
            <a:r>
              <a:rPr lang="en-US" dirty="0"/>
              <a:t>Can be integrated with smart cities, public security systems, and CCTV </a:t>
            </a:r>
            <a:r>
              <a:rPr lang="en-US" dirty="0" smtClean="0"/>
              <a:t>networks.</a:t>
            </a:r>
          </a:p>
          <a:p>
            <a:r>
              <a:rPr lang="en-US" dirty="0"/>
              <a:t>Scalable solution for schools, malls, offices, railway stations, and public areas </a:t>
            </a:r>
            <a:r>
              <a:rPr lang="en-US" dirty="0" smtClean="0"/>
              <a:t>.</a:t>
            </a:r>
            <a:endParaRPr lang="en-US" dirty="0"/>
          </a:p>
          <a:p>
            <a:endParaRPr lang="en-IN" b="1" dirty="0"/>
          </a:p>
        </p:txBody>
      </p:sp>
    </p:spTree>
    <p:extLst>
      <p:ext uri="{BB962C8B-B14F-4D97-AF65-F5344CB8AC3E}">
        <p14:creationId xmlns:p14="http://schemas.microsoft.com/office/powerpoint/2010/main" val="34631410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AEFFFF2-9EB4-4B6C-B9F8-2BA3EF89A21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D65299F-028F-4AFC-B46A-8DB33E20FE4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BAC87F6E-526A-49B5-995D-42DB656594C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423" y="1443035"/>
            <a:ext cx="3971932" cy="3971930"/>
          </a:xfrm>
          <a:prstGeom prst="ellipse">
            <a:avLst/>
          </a:prstGeom>
          <a:solidFill>
            <a:srgbClr val="FFFFFF"/>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EEEA8E4-2B1A-430A-A41B-30AE8D1A7E78}"/>
              </a:ext>
            </a:extLst>
          </p:cNvPr>
          <p:cNvSpPr>
            <a:spLocks noGrp="1"/>
          </p:cNvSpPr>
          <p:nvPr>
            <p:ph type="title"/>
          </p:nvPr>
        </p:nvSpPr>
        <p:spPr>
          <a:xfrm>
            <a:off x="1260873" y="1586484"/>
            <a:ext cx="3685032" cy="3685032"/>
          </a:xfrm>
          <a:prstGeom prst="ellipse">
            <a:avLst/>
          </a:prstGeom>
          <a:solidFill>
            <a:schemeClr val="accent2">
              <a:lumMod val="75000"/>
            </a:schemeClr>
          </a:solidFill>
          <a:ln>
            <a:noFill/>
          </a:ln>
        </p:spPr>
        <p:txBody>
          <a:bodyPr>
            <a:normAutofit/>
          </a:bodyPr>
          <a:lstStyle/>
          <a:p>
            <a:r>
              <a:rPr lang="en-IN" dirty="0">
                <a:solidFill>
                  <a:srgbClr val="FFFFFF"/>
                </a:solidFill>
              </a:rPr>
              <a:t>Results / Outcomes / Analysis</a:t>
            </a:r>
          </a:p>
        </p:txBody>
      </p:sp>
      <p:sp>
        <p:nvSpPr>
          <p:cNvPr id="3" name="Content Placeholder 2">
            <a:extLst>
              <a:ext uri="{FF2B5EF4-FFF2-40B4-BE49-F238E27FC236}">
                <a16:creationId xmlns:a16="http://schemas.microsoft.com/office/drawing/2014/main" id="{FF997BAE-B1B3-43F5-817C-987B4C2A3BFF}"/>
              </a:ext>
            </a:extLst>
          </p:cNvPr>
          <p:cNvSpPr>
            <a:spLocks noGrp="1"/>
          </p:cNvSpPr>
          <p:nvPr>
            <p:ph idx="1"/>
          </p:nvPr>
        </p:nvSpPr>
        <p:spPr>
          <a:xfrm>
            <a:off x="5591695" y="304801"/>
            <a:ext cx="5320696" cy="6063048"/>
          </a:xfrm>
        </p:spPr>
        <p:txBody>
          <a:bodyPr anchor="ctr">
            <a:noAutofit/>
          </a:bodyPr>
          <a:lstStyle/>
          <a:p>
            <a:r>
              <a:rPr lang="en-US" dirty="0"/>
              <a:t>Successfully detected high-motion and suspicious activities in video </a:t>
            </a:r>
            <a:r>
              <a:rPr lang="en-US" dirty="0" smtClean="0"/>
              <a:t>footage.</a:t>
            </a:r>
          </a:p>
          <a:p>
            <a:r>
              <a:rPr lang="en-US" dirty="0"/>
              <a:t>Generated real-time violence alerts on the </a:t>
            </a:r>
            <a:r>
              <a:rPr lang="en-US" dirty="0" smtClean="0"/>
              <a:t>dashboard.</a:t>
            </a:r>
          </a:p>
          <a:p>
            <a:r>
              <a:rPr lang="en-US" dirty="0"/>
              <a:t>Displayed live surveillance monitoring with detection </a:t>
            </a:r>
            <a:r>
              <a:rPr lang="en-US" dirty="0" smtClean="0"/>
              <a:t>highlights.</a:t>
            </a:r>
          </a:p>
          <a:p>
            <a:r>
              <a:rPr lang="en-US" dirty="0"/>
              <a:t>Produced interactive analytics using line, pie, radar, and scatter </a:t>
            </a:r>
            <a:r>
              <a:rPr lang="en-US" dirty="0" smtClean="0"/>
              <a:t>charts.</a:t>
            </a:r>
          </a:p>
          <a:p>
            <a:r>
              <a:rPr lang="en-US" dirty="0"/>
              <a:t>Improved monitoring efficiency through automated </a:t>
            </a:r>
            <a:r>
              <a:rPr lang="en-US" dirty="0" smtClean="0"/>
              <a:t>detection.</a:t>
            </a:r>
          </a:p>
          <a:p>
            <a:r>
              <a:rPr lang="en-US" dirty="0"/>
              <a:t>Achieved smooth dashboard performance with real-time </a:t>
            </a:r>
            <a:r>
              <a:rPr lang="en-US" dirty="0" smtClean="0"/>
              <a:t>visualization.</a:t>
            </a:r>
          </a:p>
          <a:p>
            <a:r>
              <a:rPr lang="en-US" dirty="0"/>
              <a:t>Demonstrated the potential of AI and computer vision in smart surveillance </a:t>
            </a:r>
            <a:r>
              <a:rPr lang="en-US" dirty="0" smtClean="0"/>
              <a:t>systems.</a:t>
            </a:r>
          </a:p>
          <a:p>
            <a:r>
              <a:rPr lang="en-US" dirty="0"/>
              <a:t>Helped reduce dependency on continuous human monitoring for security analysis </a:t>
            </a:r>
          </a:p>
          <a:p>
            <a:endParaRPr lang="en-IN" b="1" dirty="0"/>
          </a:p>
        </p:txBody>
      </p:sp>
    </p:spTree>
    <p:extLst>
      <p:ext uri="{BB962C8B-B14F-4D97-AF65-F5344CB8AC3E}">
        <p14:creationId xmlns:p14="http://schemas.microsoft.com/office/powerpoint/2010/main" val="31306552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5" name="Picture 4" descr="A group of yellow figures and a red figure on the other side">
            <a:extLst>
              <a:ext uri="{FF2B5EF4-FFF2-40B4-BE49-F238E27FC236}">
                <a16:creationId xmlns:a16="http://schemas.microsoft.com/office/drawing/2014/main" id="{AF55747E-0BF5-40C6-D4AD-0FF058921801}"/>
              </a:ext>
            </a:extLst>
          </p:cNvPr>
          <p:cNvPicPr>
            <a:picLocks noChangeAspect="1"/>
          </p:cNvPicPr>
          <p:nvPr/>
        </p:nvPicPr>
        <p:blipFill>
          <a:blip r:embed="rId2"/>
          <a:srcRect l="38644" r="2022" b="-1"/>
          <a:stretch/>
        </p:blipFill>
        <p:spPr>
          <a:xfrm>
            <a:off x="642" y="10"/>
            <a:ext cx="4933823" cy="6857990"/>
          </a:xfrm>
          <a:prstGeom prst="rect">
            <a:avLst/>
          </a:prstGeom>
        </p:spPr>
      </p:pic>
      <p:sp>
        <p:nvSpPr>
          <p:cNvPr id="2" name="Title 1">
            <a:extLst>
              <a:ext uri="{FF2B5EF4-FFF2-40B4-BE49-F238E27FC236}">
                <a16:creationId xmlns:a16="http://schemas.microsoft.com/office/drawing/2014/main" id="{9B5131FA-8D36-492B-8E16-2BB465AADDDF}"/>
              </a:ext>
            </a:extLst>
          </p:cNvPr>
          <p:cNvSpPr>
            <a:spLocks noGrp="1"/>
          </p:cNvSpPr>
          <p:nvPr>
            <p:ph type="title"/>
          </p:nvPr>
        </p:nvSpPr>
        <p:spPr>
          <a:xfrm>
            <a:off x="112693" y="2848540"/>
            <a:ext cx="4487298" cy="1174991"/>
          </a:xfrm>
          <a:solidFill>
            <a:schemeClr val="tx1">
              <a:alpha val="60000"/>
            </a:schemeClr>
          </a:solidFill>
          <a:ln>
            <a:solidFill>
              <a:schemeClr val="bg1"/>
            </a:solidFill>
          </a:ln>
        </p:spPr>
        <p:txBody>
          <a:bodyPr>
            <a:normAutofit/>
          </a:bodyPr>
          <a:lstStyle/>
          <a:p>
            <a:r>
              <a:rPr lang="en-IN" sz="2400" dirty="0">
                <a:solidFill>
                  <a:schemeClr val="bg1"/>
                </a:solidFill>
              </a:rPr>
              <a:t>Limitations</a:t>
            </a:r>
          </a:p>
        </p:txBody>
      </p:sp>
      <p:sp>
        <p:nvSpPr>
          <p:cNvPr id="3" name="Content Placeholder 2">
            <a:extLst>
              <a:ext uri="{FF2B5EF4-FFF2-40B4-BE49-F238E27FC236}">
                <a16:creationId xmlns:a16="http://schemas.microsoft.com/office/drawing/2014/main" id="{B2658A8F-6943-4E76-8967-55B21E8D3429}"/>
              </a:ext>
            </a:extLst>
          </p:cNvPr>
          <p:cNvSpPr>
            <a:spLocks noGrp="1"/>
          </p:cNvSpPr>
          <p:nvPr>
            <p:ph idx="1"/>
          </p:nvPr>
        </p:nvSpPr>
        <p:spPr>
          <a:xfrm>
            <a:off x="5247503" y="593125"/>
            <a:ext cx="6301370" cy="5733534"/>
          </a:xfrm>
        </p:spPr>
        <p:txBody>
          <a:bodyPr anchor="ctr"/>
          <a:lstStyle/>
          <a:p>
            <a:r>
              <a:rPr lang="en-US" dirty="0"/>
              <a:t>Detection is based mainly on motion intensity, not deep learning models </a:t>
            </a:r>
            <a:r>
              <a:rPr lang="en-US" dirty="0" smtClean="0"/>
              <a:t>.</a:t>
            </a:r>
            <a:endParaRPr lang="en-US" dirty="0"/>
          </a:p>
          <a:p>
            <a:r>
              <a:rPr lang="en-US" dirty="0"/>
              <a:t>May generate false alerts in crowded or highly active environments </a:t>
            </a:r>
            <a:r>
              <a:rPr lang="en-US" dirty="0" smtClean="0"/>
              <a:t>.</a:t>
            </a:r>
            <a:endParaRPr lang="en-US" dirty="0"/>
          </a:p>
          <a:p>
            <a:r>
              <a:rPr lang="en-US" dirty="0"/>
              <a:t>Accuracy depends on video quality and lighting </a:t>
            </a:r>
            <a:r>
              <a:rPr lang="en-US" dirty="0" smtClean="0"/>
              <a:t>conditions. </a:t>
            </a:r>
            <a:endParaRPr lang="en-US" dirty="0"/>
          </a:p>
          <a:p>
            <a:r>
              <a:rPr lang="en-US" dirty="0"/>
              <a:t>Cannot identify specific individuals or objects </a:t>
            </a:r>
            <a:r>
              <a:rPr lang="en-US" dirty="0" smtClean="0"/>
              <a:t>.</a:t>
            </a:r>
            <a:endParaRPr lang="en-US" dirty="0"/>
          </a:p>
          <a:p>
            <a:r>
              <a:rPr lang="en-US" dirty="0"/>
              <a:t>Requires continuous video input for real-time </a:t>
            </a:r>
            <a:r>
              <a:rPr lang="en-US" dirty="0" smtClean="0"/>
              <a:t>monitoring. </a:t>
            </a:r>
            <a:endParaRPr lang="en-US" dirty="0"/>
          </a:p>
          <a:p>
            <a:r>
              <a:rPr lang="en-US" dirty="0"/>
              <a:t>Limited performance on low-end systems with heavy video </a:t>
            </a:r>
            <a:r>
              <a:rPr lang="en-US" dirty="0" smtClean="0"/>
              <a:t>processing. </a:t>
            </a:r>
            <a:endParaRPr lang="en-US" dirty="0"/>
          </a:p>
          <a:p>
            <a:r>
              <a:rPr lang="en-US" dirty="0"/>
              <a:t>Does not include advanced AI models like CNN or LSTM for precise violence </a:t>
            </a:r>
            <a:r>
              <a:rPr lang="en-US" dirty="0" smtClean="0"/>
              <a:t>recognition. </a:t>
            </a:r>
            <a:endParaRPr lang="en-US" dirty="0"/>
          </a:p>
          <a:p>
            <a:r>
              <a:rPr lang="en-US" dirty="0"/>
              <a:t>Internet/cloud integration and mobile alert features are not implemented </a:t>
            </a:r>
            <a:r>
              <a:rPr lang="en-US" dirty="0" smtClean="0"/>
              <a:t>yet. </a:t>
            </a:r>
            <a:endParaRPr lang="en-US" dirty="0"/>
          </a:p>
          <a:p>
            <a:endParaRPr lang="en-IN" dirty="0"/>
          </a:p>
        </p:txBody>
      </p:sp>
    </p:spTree>
    <p:extLst>
      <p:ext uri="{BB962C8B-B14F-4D97-AF65-F5344CB8AC3E}">
        <p14:creationId xmlns:p14="http://schemas.microsoft.com/office/powerpoint/2010/main" val="4247599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131FA-8D36-492B-8E16-2BB465AADDDF}"/>
              </a:ext>
            </a:extLst>
          </p:cNvPr>
          <p:cNvSpPr>
            <a:spLocks noGrp="1"/>
          </p:cNvSpPr>
          <p:nvPr>
            <p:ph type="title"/>
          </p:nvPr>
        </p:nvSpPr>
        <p:spPr>
          <a:xfrm>
            <a:off x="5445496" y="774357"/>
            <a:ext cx="5925310" cy="1029729"/>
          </a:xfrm>
        </p:spPr>
        <p:txBody>
          <a:bodyPr>
            <a:normAutofit/>
          </a:bodyPr>
          <a:lstStyle/>
          <a:p>
            <a:r>
              <a:rPr lang="en-IN" sz="2400" dirty="0"/>
              <a:t>Future Enhancements/Scope</a:t>
            </a:r>
          </a:p>
        </p:txBody>
      </p:sp>
      <p:pic>
        <p:nvPicPr>
          <p:cNvPr id="5" name="Picture 4" descr="White arrows going to the red target">
            <a:extLst>
              <a:ext uri="{FF2B5EF4-FFF2-40B4-BE49-F238E27FC236}">
                <a16:creationId xmlns:a16="http://schemas.microsoft.com/office/drawing/2014/main" id="{A3EA6280-589F-C0E2-BE2F-BC5FC4617615}"/>
              </a:ext>
            </a:extLst>
          </p:cNvPr>
          <p:cNvPicPr>
            <a:picLocks noChangeAspect="1"/>
          </p:cNvPicPr>
          <p:nvPr/>
        </p:nvPicPr>
        <p:blipFill>
          <a:blip r:embed="rId2"/>
          <a:srcRect l="45161" r="9508" b="-1"/>
          <a:stretch/>
        </p:blipFill>
        <p:spPr>
          <a:xfrm>
            <a:off x="20" y="10"/>
            <a:ext cx="4657325" cy="6857990"/>
          </a:xfrm>
          <a:prstGeom prst="rect">
            <a:avLst/>
          </a:prstGeom>
        </p:spPr>
      </p:pic>
      <p:sp>
        <p:nvSpPr>
          <p:cNvPr id="4" name="Rectangle 1"/>
          <p:cNvSpPr>
            <a:spLocks noGrp="1" noChangeArrowheads="1"/>
          </p:cNvSpPr>
          <p:nvPr>
            <p:ph idx="1"/>
          </p:nvPr>
        </p:nvSpPr>
        <p:spPr bwMode="auto">
          <a:xfrm>
            <a:off x="5445125" y="1941930"/>
            <a:ext cx="6223961"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mj-lt"/>
              </a:rPr>
              <a:t>Integrate Deep Learning models (CNN, LSTM, YOLO) for accurate violence detection.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mj-lt"/>
              </a:rPr>
              <a:t>Add face recognition and person tracking features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mj-lt"/>
              </a:rPr>
              <a:t>Enable real-time mobile and email alert notifications.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mj-lt"/>
              </a:rPr>
              <a:t>Integrate cloud storage and remote monitoring system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mj-lt"/>
              </a:rPr>
              <a:t>Support multiple CCTV cameras simultaneously.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mj-lt"/>
              </a:rPr>
              <a:t>Improve detection accuracy in low-light and crowded environments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mj-lt"/>
              </a:rPr>
              <a:t>Deploy the system for smart cities, schools, malls, and public transport security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mj-lt"/>
              </a:rPr>
              <a:t>Add audio-based threat detection and emergency response integration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mj-lt"/>
              </a:rPr>
              <a:t>Develop a fully automated AI surveillance system with predictive analytics .</a:t>
            </a:r>
          </a:p>
        </p:txBody>
      </p:sp>
    </p:spTree>
    <p:extLst>
      <p:ext uri="{BB962C8B-B14F-4D97-AF65-F5344CB8AC3E}">
        <p14:creationId xmlns:p14="http://schemas.microsoft.com/office/powerpoint/2010/main" val="8164184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C3E1C3D-633C-4756-B09B-9AD080714C9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6668" y="640080"/>
            <a:ext cx="10915252" cy="5263134"/>
          </a:xfrm>
          <a:prstGeom prst="rect">
            <a:avLst/>
          </a:prstGeom>
          <a:noFill/>
          <a:ln w="31750" cap="sq">
            <a:solidFill>
              <a:schemeClr val="accent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1295DAF8-54BC-4834-A4B1-7DD2F7AFE5A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1520" y="802767"/>
            <a:ext cx="10585166" cy="49377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B5131FA-8D36-492B-8E16-2BB465AADDDF}"/>
              </a:ext>
            </a:extLst>
          </p:cNvPr>
          <p:cNvSpPr>
            <a:spLocks noGrp="1"/>
          </p:cNvSpPr>
          <p:nvPr>
            <p:ph type="title"/>
          </p:nvPr>
        </p:nvSpPr>
        <p:spPr>
          <a:xfrm>
            <a:off x="1120624" y="1122807"/>
            <a:ext cx="9954443" cy="4297680"/>
          </a:xfrm>
          <a:ln/>
        </p:spPr>
        <p:style>
          <a:lnRef idx="2">
            <a:schemeClr val="accent3"/>
          </a:lnRef>
          <a:fillRef idx="1">
            <a:schemeClr val="lt1"/>
          </a:fillRef>
          <a:effectRef idx="0">
            <a:schemeClr val="accent3"/>
          </a:effectRef>
          <a:fontRef idx="minor">
            <a:schemeClr val="dk1"/>
          </a:fontRef>
        </p:style>
        <p:txBody>
          <a:bodyPr vert="horz" lIns="182880" tIns="182880" rIns="182880" bIns="182880" rtlCol="0" anchor="ctr">
            <a:noAutofit/>
          </a:bodyPr>
          <a:lstStyle/>
          <a:p>
            <a:r>
              <a:rPr lang="en-US" sz="4800" dirty="0">
                <a:solidFill>
                  <a:srgbClr val="FFFFFF"/>
                </a:solidFill>
              </a:rPr>
              <a:t/>
            </a:r>
            <a:br>
              <a:rPr lang="en-US" sz="4800" dirty="0">
                <a:solidFill>
                  <a:srgbClr val="FFFFFF"/>
                </a:solidFill>
              </a:rPr>
            </a:br>
            <a:r>
              <a:rPr lang="en-US" sz="4800" dirty="0">
                <a:solidFill>
                  <a:schemeClr val="tx1"/>
                </a:solidFill>
              </a:rPr>
              <a:t>(GITHUB </a:t>
            </a:r>
            <a:r>
              <a:rPr lang="en-US" sz="4800" dirty="0" smtClean="0">
                <a:solidFill>
                  <a:schemeClr val="tx1"/>
                </a:solidFill>
              </a:rPr>
              <a:t>LINK)</a:t>
            </a:r>
            <a:r>
              <a:rPr lang="en-US" sz="4800" dirty="0">
                <a:solidFill>
                  <a:schemeClr val="tx1"/>
                </a:solidFill>
              </a:rPr>
              <a:t/>
            </a:r>
            <a:br>
              <a:rPr lang="en-US" sz="4800" dirty="0">
                <a:solidFill>
                  <a:schemeClr val="tx1"/>
                </a:solidFill>
              </a:rPr>
            </a:br>
            <a:r>
              <a:rPr lang="en-US" sz="4800" dirty="0">
                <a:solidFill>
                  <a:schemeClr val="tx1">
                    <a:lumMod val="95000"/>
                    <a:lumOff val="5000"/>
                  </a:schemeClr>
                </a:solidFill>
                <a:hlinkClick r:id="rId2" action="ppaction://hlinkfile"/>
              </a:rPr>
              <a:t>https://github.com/KashishGautam31/Computer-Vision--AI-VIOLENCE-DETECTION-SYSTEM</a:t>
            </a:r>
            <a:r>
              <a:rPr lang="en-US" sz="4800" dirty="0">
                <a:solidFill>
                  <a:schemeClr val="tx1">
                    <a:lumMod val="95000"/>
                    <a:lumOff val="5000"/>
                  </a:schemeClr>
                </a:solidFill>
                <a:hlinkClick r:id="rId2" action="ppaction://hlinkfile"/>
              </a:rPr>
              <a:t/>
            </a:r>
            <a:br>
              <a:rPr lang="en-US" sz="4800" dirty="0">
                <a:solidFill>
                  <a:schemeClr val="tx1">
                    <a:lumMod val="95000"/>
                    <a:lumOff val="5000"/>
                  </a:schemeClr>
                </a:solidFill>
                <a:hlinkClick r:id="rId2" action="ppaction://hlinkfile"/>
              </a:rPr>
            </a:br>
            <a:r>
              <a:rPr lang="en-US" sz="4800" dirty="0" smtClean="0">
                <a:solidFill>
                  <a:schemeClr val="tx1"/>
                </a:solidFill>
              </a:rPr>
              <a:t/>
            </a:r>
            <a:br>
              <a:rPr lang="en-US" sz="4800" dirty="0" smtClean="0">
                <a:solidFill>
                  <a:schemeClr val="tx1"/>
                </a:solidFill>
              </a:rPr>
            </a:br>
            <a:endParaRPr lang="en-US" sz="4800" kern="1200" cap="all" spc="200" baseline="0" dirty="0">
              <a:solidFill>
                <a:schemeClr val="tx1"/>
              </a:solidFill>
            </a:endParaRPr>
          </a:p>
        </p:txBody>
      </p:sp>
    </p:spTree>
    <p:extLst>
      <p:ext uri="{BB962C8B-B14F-4D97-AF65-F5344CB8AC3E}">
        <p14:creationId xmlns:p14="http://schemas.microsoft.com/office/powerpoint/2010/main" val="29007037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C2A9291-55AD-4DDC-8735-1BA5A1C98CC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78A74F5-46D6-41B8-88F6-8920EDCB47B2}"/>
              </a:ext>
            </a:extLst>
          </p:cNvPr>
          <p:cNvSpPr>
            <a:spLocks noGrp="1"/>
          </p:cNvSpPr>
          <p:nvPr>
            <p:ph type="title"/>
          </p:nvPr>
        </p:nvSpPr>
        <p:spPr>
          <a:xfrm>
            <a:off x="1752600" y="2542604"/>
            <a:ext cx="8686800" cy="1772793"/>
          </a:xfrm>
          <a:ln>
            <a:solidFill>
              <a:srgbClr val="404040"/>
            </a:solidFill>
          </a:ln>
        </p:spPr>
        <p:style>
          <a:lnRef idx="0">
            <a:scrgbClr r="0" g="0" b="0"/>
          </a:lnRef>
          <a:fillRef idx="1003">
            <a:schemeClr val="lt2"/>
          </a:fillRef>
          <a:effectRef idx="0">
            <a:scrgbClr r="0" g="0" b="0"/>
          </a:effectRef>
          <a:fontRef idx="major"/>
        </p:style>
        <p:txBody>
          <a:bodyPr vert="horz" wrap="square" lIns="182880" tIns="182880" rIns="182880" bIns="182880" rtlCol="0" anchor="ctr">
            <a:normAutofit/>
          </a:bodyPr>
          <a:lstStyle/>
          <a:p>
            <a:r>
              <a:rPr lang="en-US" sz="8000" kern="1200" cap="all" spc="200" baseline="0" dirty="0">
                <a:solidFill>
                  <a:srgbClr val="262626"/>
                </a:solidFill>
                <a:latin typeface="Algerian" panose="04020705040A02060702" pitchFamily="82" charset="0"/>
              </a:rPr>
              <a:t>Thank You</a:t>
            </a:r>
          </a:p>
        </p:txBody>
      </p:sp>
    </p:spTree>
    <p:extLst>
      <p:ext uri="{BB962C8B-B14F-4D97-AF65-F5344CB8AC3E}">
        <p14:creationId xmlns:p14="http://schemas.microsoft.com/office/powerpoint/2010/main" val="3720621799"/>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docProps/app.xml><?xml version="1.0" encoding="utf-8"?>
<Properties xmlns="http://schemas.openxmlformats.org/officeDocument/2006/extended-properties" xmlns:vt="http://schemas.openxmlformats.org/officeDocument/2006/docPropsVTypes">
  <TotalTime>139</TotalTime>
  <Words>822</Words>
  <Application>Microsoft Office PowerPoint</Application>
  <PresentationFormat>Widescreen</PresentationFormat>
  <Paragraphs>95</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Algerian</vt:lpstr>
      <vt:lpstr>Arial</vt:lpstr>
      <vt:lpstr>Book Antiqua</vt:lpstr>
      <vt:lpstr>Gill Sans MT</vt:lpstr>
      <vt:lpstr>Times New Roman</vt:lpstr>
      <vt:lpstr>Parcel</vt:lpstr>
      <vt:lpstr>Computer Vision:-AI VIOLENCE DETECTION SYSTEM</vt:lpstr>
      <vt:lpstr>Smart Surveillance Squad</vt:lpstr>
      <vt:lpstr>Workload Division</vt:lpstr>
      <vt:lpstr>The Background </vt:lpstr>
      <vt:lpstr>Proposed Solution</vt:lpstr>
      <vt:lpstr>Solution Design</vt:lpstr>
      <vt:lpstr>Technology Stack &amp; Requirements</vt:lpstr>
      <vt:lpstr>Innovative Idea</vt:lpstr>
      <vt:lpstr>Results / Outcomes / Analysis</vt:lpstr>
      <vt:lpstr>Limitations</vt:lpstr>
      <vt:lpstr>Future Enhancements/Scope</vt:lpstr>
      <vt:lpstr> (GITHUB LINK) https://github.com/KashishGautam31/Computer-Vision--AI-VIOLENCE-DETECTION-SYSTEM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Prateek Vashishtha</dc:creator>
  <cp:lastModifiedBy>raj chaudhary</cp:lastModifiedBy>
  <cp:revision>79</cp:revision>
  <dcterms:created xsi:type="dcterms:W3CDTF">2021-11-25T04:17:35Z</dcterms:created>
  <dcterms:modified xsi:type="dcterms:W3CDTF">2026-05-20T10:52:18Z</dcterms:modified>
</cp:coreProperties>
</file>